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Clause-Activation Signatures (CAS) with CPSS</a:t>
            </a:r>
          </a:p>
          <a:p>
            <a:pPr>
              <a:defRPr sz="2400">
                <a:solidFill>
                  <a:srgbClr val="BFD5E8"/>
                </a:solidFill>
              </a:defRPr>
            </a:pPr>
            <a:r>
              <a:t>A simple explanation — how we find out WHICH attack it is, and WHY</a:t>
            </a:r>
          </a:p>
          <a:p>
            <a:pPr>
              <a:defRPr sz="1600">
                <a:solidFill>
                  <a:srgbClr val="8FAAC8"/>
                </a:solidFill>
              </a:defRPr>
            </a:pPr>
            <a:r>
              <a:t>Based on: CAS for Attack-Family Attribution in IoMT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A hospital network (IoMT) has many connected medical devices.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An intrusion detector can say: “this network traffic is an ATTACK”.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But the security analyst needs more:</a:t>
            </a:r>
          </a:p>
          <a:p>
            <a:pPr>
              <a:spcAft>
                <a:spcPts val="1000"/>
              </a:spcAft>
              <a:defRPr sz="1900" b="0">
                <a:solidFill>
                  <a:srgbClr val="1F3B57"/>
                </a:solidFill>
              </a:defRPr>
            </a:pPr>
            <a:r>
              <a:t>   – WHICH attack family is it? (DDoS, DoS, MQTT, Recon, Spoofing...)</a:t>
            </a:r>
          </a:p>
          <a:p>
            <a:pPr>
              <a:spcAft>
                <a:spcPts val="1000"/>
              </a:spcAft>
              <a:defRPr sz="1900" b="0">
                <a:solidFill>
                  <a:srgbClr val="1F3B57"/>
                </a:solidFill>
              </a:defRPr>
            </a:pPr>
            <a:r>
              <a:t>   – WHY does the model think so? (what evidence?)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Neural networks give a label, but no human-readable reason.</a:t>
            </a:r>
          </a:p>
          <a:p>
            <a:pPr>
              <a:spcAft>
                <a:spcPts val="1000"/>
              </a:spcAft>
              <a:defRPr sz="2200" b="1">
                <a:solidFill>
                  <a:srgbClr val="2F8F4E"/>
                </a:solidFill>
              </a:defRPr>
            </a:pPr>
            <a:r>
              <a:t>• CAS goal: give the attack family + a small, readable set of evidence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Building Block: Tsetlin Machine Clauses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A Tsetlin Machine (TM) learns simple IF-rules called clauses.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Each clause checks a few yes/no facts about the network flow.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Example clause for the class DDoS:</a:t>
            </a:r>
          </a:p>
          <a:p>
            <a:pPr>
              <a:spcAft>
                <a:spcPts val="1000"/>
              </a:spcAft>
              <a:defRPr sz="1900" b="0">
                <a:solidFill>
                  <a:srgbClr val="2E86AB"/>
                </a:solidFill>
              </a:defRPr>
            </a:pPr>
            <a:r>
              <a:t>   – IF  packet_rate is HIGH  AND  protocol is TCP  AND  dst_port is 1883</a:t>
            </a:r>
          </a:p>
          <a:p>
            <a:pPr>
              <a:spcAft>
                <a:spcPts val="1000"/>
              </a:spcAft>
              <a:defRPr sz="1900" b="0">
                <a:solidFill>
                  <a:srgbClr val="2E86AB"/>
                </a:solidFill>
              </a:defRPr>
            </a:pPr>
            <a:r>
              <a:t>   – THEN vote for “DDoS”  (with a learned weight, e.g. +7)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Each class (Benign, DDoS, DoS, ...) has its own clauses (we used 400 per class).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So after training we have a big pool of clauses: 6 classes × 400 = 2,400 clauses.</a:t>
            </a:r>
          </a:p>
          <a:p>
            <a:pPr>
              <a:spcAft>
                <a:spcPts val="1000"/>
              </a:spcAft>
              <a:defRPr sz="2200" b="0">
                <a:solidFill>
                  <a:srgbClr val="B32D2D"/>
                </a:solidFill>
              </a:defRPr>
            </a:pPr>
            <a:r>
              <a:t>• Problem: the pool is big and messy. Some clauses are useless or redundant.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 in One Picture — 4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23317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Train TM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get 2,400 clauses</a:t>
            </a:r>
          </a:p>
        </p:txBody>
      </p:sp>
      <p:sp>
        <p:nvSpPr>
          <p:cNvPr id="4" name="Trapezoid 3"/>
          <p:cNvSpPr/>
          <p:nvPr/>
        </p:nvSpPr>
        <p:spPr>
          <a:xfrm>
            <a:off x="2935224" y="2880360"/>
            <a:ext cx="301752" cy="365760"/>
          </a:xfrm>
          <a:prstGeom prst="trapezoid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2377440"/>
            <a:ext cx="23317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Prune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drop weak clauses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2,400 → 390</a:t>
            </a:r>
          </a:p>
        </p:txBody>
      </p:sp>
      <p:sp>
        <p:nvSpPr>
          <p:cNvPr id="6" name="Trapezoid 5"/>
          <p:cNvSpPr/>
          <p:nvPr/>
        </p:nvSpPr>
        <p:spPr>
          <a:xfrm>
            <a:off x="5678424" y="2880360"/>
            <a:ext cx="301752" cy="365760"/>
          </a:xfrm>
          <a:prstGeom prst="trapezoid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2377440"/>
            <a:ext cx="233172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CPSS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keep clauses that are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picked again &amp; again</a:t>
            </a:r>
          </a:p>
        </p:txBody>
      </p:sp>
      <p:sp>
        <p:nvSpPr>
          <p:cNvPr id="8" name="Trapezoid 7"/>
          <p:cNvSpPr/>
          <p:nvPr/>
        </p:nvSpPr>
        <p:spPr>
          <a:xfrm>
            <a:off x="8421624" y="2880360"/>
            <a:ext cx="301752" cy="365760"/>
          </a:xfrm>
          <a:prstGeom prst="trapezoid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2377440"/>
            <a:ext cx="2331720" cy="1371600"/>
          </a:xfrm>
          <a:prstGeom prst="rect">
            <a:avLst/>
          </a:prstGeom>
          <a:solidFill>
            <a:srgbClr val="2F8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Score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match evidence,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name the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Input: one new network flow  →  Output: attack family + which rules support / oppose it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Everything is traceable: the final answer is built from clauses we can read.</a:t>
            </a:r>
          </a:p>
        </p:txBody>
      </p:sp>
      <p:pic>
        <p:nvPicPr>
          <p:cNvPr id="11" name="Picture 10" descr="fig_cpss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257800"/>
            <a:ext cx="10881360" cy="25841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465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The real pipeline from the paper (Fig. 1): signature extraction on top, scoring below.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New in This Paper? (Contributions)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E86AB"/>
                </a:solidFill>
              </a:defRPr>
            </a:pPr>
            <a:r>
              <a:t>• 1. CAS attribution layer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Run CPSS on the frozen TM clause pool → get signed evidence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(rules that support / oppose each attack family) for every flow.</a:t>
            </a:r>
          </a:p>
          <a:p>
            <a:pPr>
              <a:spcAft>
                <a:spcPts val="1000"/>
              </a:spcAft>
              <a:defRPr sz="2200" b="1">
                <a:solidFill>
                  <a:srgbClr val="2E86AB"/>
                </a:solidFill>
              </a:defRPr>
            </a:pPr>
            <a:r>
              <a:t>• 2. Pruning with a guarantee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A simple rule to remove weak clauses, plus a margin condition that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tells us when pruning cannot change the model's answer.</a:t>
            </a:r>
          </a:p>
          <a:p>
            <a:pPr>
              <a:spcAft>
                <a:spcPts val="1000"/>
              </a:spcAft>
              <a:defRPr sz="2200" b="1">
                <a:solidFill>
                  <a:srgbClr val="2E86AB"/>
                </a:solidFill>
              </a:defRPr>
            </a:pPr>
            <a:r>
              <a:t>• 3. Empirical study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Full vs pruned pools on real IoMT data (CICIoMT2024),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both multiclass (6 families) and binary (Benign vs Attack),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plus a check showing the signs carry the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Step 1 &amp; 2: Train, Then Throw Away Weak Clauses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Step 1 — Train a weighted Tsetlin Machine on IoMT traffic.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Every clause gets a learned weight: big weight = important for the TM.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Step 2 — Pruning (optional but helps):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Remove the clauses with the smallest weights (the weak ones).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Safety rule: if the model is confident by more than 2×(removed weight),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its decision cannot change → pruning is safe.</a:t>
            </a:r>
          </a:p>
          <a:p>
            <a:pPr>
              <a:spcAft>
                <a:spcPts val="1000"/>
              </a:spcAft>
              <a:defRPr sz="2200" b="1">
                <a:solidFill>
                  <a:srgbClr val="2F8F4E"/>
                </a:solidFill>
              </a:defRPr>
            </a:pPr>
            <a:r>
              <a:t>• Result: 2,400 clauses → only 390 clauses (83.75% removed!)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And the TM still works almost the same (F1: 0.692 → 0.688).</a:t>
            </a:r>
          </a:p>
          <a:p>
            <a:pPr>
              <a:spcAft>
                <a:spcPts val="1000"/>
              </a:spcAft>
              <a:defRPr sz="2200" b="0">
                <a:solidFill>
                  <a:srgbClr val="555555"/>
                </a:solidFill>
              </a:defRPr>
            </a:pPr>
            <a:r>
              <a:t>• A smaller pool makes the next step cleaner.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Step 3: CPSS — the Key Idea</a:t>
            </a:r>
          </a:p>
          <a:p>
            <a:pPr>
              <a:defRPr sz="1600">
                <a:solidFill>
                  <a:srgbClr val="BFD5E8"/>
                </a:solidFill>
              </a:defRPr>
            </a:pPr>
            <a:r>
              <a:t>Complementary-Pairs Stability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Question: which clauses really identify a class (e.g. DDoS vs the rest)?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Simple idea: a truly useful clause is picked AGAIN and AGAIN,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even if we shuffle and split the data differently.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How CPSS works: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Split the training data into two halves. Do this B times (we tried 5–25).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On every half: fit a simple sparse model (L1 logistic regression) that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predicts “DDoS or not” using only the clause activations (which clauses fired).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Count: in how many halves was each clause picked?</a:t>
            </a:r>
          </a:p>
          <a:p>
            <a:pPr>
              <a:spcAft>
                <a:spcPts val="1000"/>
              </a:spcAft>
              <a:defRPr sz="2200" b="1">
                <a:solidFill>
                  <a:srgbClr val="2F8F4E"/>
                </a:solidFill>
              </a:defRPr>
            </a:pPr>
            <a:r>
              <a:t>• Keep only clauses picked often enough (e.g. ≥ 80% of the halves).</a:t>
            </a:r>
          </a:p>
          <a:p>
            <a:pPr>
              <a:spcAft>
                <a:spcPts val="1000"/>
              </a:spcAft>
              <a:defRPr sz="2200" b="0">
                <a:solidFill>
                  <a:srgbClr val="555555"/>
                </a:solidFill>
              </a:defRPr>
            </a:pPr>
            <a:r>
              <a:t>• This is called stability selection (Meinshausen &amp; Bühlmann; Shah &amp; Samworth).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Toy Example: CPSS for the Class “DDoS”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Imagine only 6 clauses and B = 5 pairs (10 halves). Threshold = 8 out of 10.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65960"/>
          <a:ext cx="1291132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76272"/>
                <a:gridCol w="2176272"/>
                <a:gridCol w="2176272"/>
                <a:gridCol w="2176272"/>
              </a:tblGrid>
              <a:tr h="52251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Clause (readable rule)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Picked in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Keep?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Sign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c1: high packet rate AND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supports 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c2: many unique dst ports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9 / 10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F8F4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−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argues against DDoS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c3: dst port = 1883 (MQTT)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9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F8F4E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argues against 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c4: small packets AND UDP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 / 10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unstable → drop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c5: long flow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unstable → 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c6: src port is random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 / 10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not stable enough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B57"/>
                </a:solidFill>
              </a:defRPr>
            </a:pPr>
            <a:r>
              <a:t>Signature for DDoS = {c1 (+), c2 (−), c3 (−)}  — small, stable, and readable.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Step 3b: The Sign Matters — Evidence FOR and AGAINST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Each kept clause gets a sign from the model’s coefficient:</a:t>
            </a:r>
          </a:p>
          <a:p>
            <a:pPr>
              <a:spcAft>
                <a:spcPts val="1000"/>
              </a:spcAft>
              <a:defRPr sz="1900" b="1">
                <a:solidFill>
                  <a:srgbClr val="2F8F4E"/>
                </a:solidFill>
              </a:defRPr>
            </a:pPr>
            <a:r>
              <a:t>   – Positive sign (+)  →  “inculpatory” evidence: supports this attack family.</a:t>
            </a:r>
          </a:p>
          <a:p>
            <a:pPr>
              <a:spcAft>
                <a:spcPts val="1000"/>
              </a:spcAft>
              <a:defRPr sz="1900" b="1">
                <a:solidFill>
                  <a:srgbClr val="B32D2D"/>
                </a:solidFill>
              </a:defRPr>
            </a:pPr>
            <a:r>
              <a:t>   – Negative sign (−)  →  “exculpatory” evidence: argues against this family.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Why this is useful for an analyst: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Not just “the model says DDoS”, but: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“It looks like DDoS because clause c1 fired,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and nothing argues strongly against it.”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Sanity check from the paper: if we IGNORE the signs,</a:t>
            </a:r>
          </a:p>
          <a:p>
            <a:pPr>
              <a:spcAft>
                <a:spcPts val="1000"/>
              </a:spcAft>
              <a:defRPr sz="2200" b="1">
                <a:solidFill>
                  <a:srgbClr val="1F3B57"/>
                </a:solidFill>
              </a:defRPr>
            </a:pPr>
            <a:r>
              <a:t>• macro-F1 collapses from 0.765 to 0.025 → the signs carry the real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Step 4: Scoring a New Network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A new flow arrives. We check which signature clauses fire on it.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Score for each class =</a:t>
            </a:r>
          </a:p>
          <a:p>
            <a:pPr>
              <a:spcAft>
                <a:spcPts val="1000"/>
              </a:spcAft>
              <a:defRPr sz="1900" b="0">
                <a:solidFill>
                  <a:srgbClr val="1F3B57"/>
                </a:solidFill>
              </a:defRPr>
            </a:pPr>
            <a:r>
              <a:t>   – (stability of fired “for” clauses  −  stability of fired “against” clauses)</a:t>
            </a:r>
          </a:p>
          <a:p>
            <a:pPr>
              <a:spcAft>
                <a:spcPts val="1000"/>
              </a:spcAft>
              <a:defRPr sz="1900" b="0">
                <a:solidFill>
                  <a:srgbClr val="1F3B57"/>
                </a:solidFill>
              </a:defRPr>
            </a:pPr>
            <a:r>
              <a:t>   – ÷  total stability of “for” clauses</a:t>
            </a:r>
          </a:p>
          <a:p>
            <a:pPr>
              <a:spcAft>
                <a:spcPts val="1000"/>
              </a:spcAft>
              <a:defRPr sz="2200" b="1">
                <a:solidFill>
                  <a:srgbClr val="222222"/>
                </a:solidFill>
              </a:defRPr>
            </a:pPr>
            <a:r>
              <a:t>• Toy example — new flow X, checking class DDoS:</a:t>
            </a:r>
          </a:p>
          <a:p>
            <a:pPr>
              <a:spcAft>
                <a:spcPts val="1000"/>
              </a:spcAft>
              <a:defRPr sz="1900" b="0">
                <a:solidFill>
                  <a:srgbClr val="2F8F4E"/>
                </a:solidFill>
              </a:defRPr>
            </a:pPr>
            <a:r>
              <a:t>   – c1 (+, stability 1.0) fires   →  +1.0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c2 (−, stability 0.9) does NOT fire   →  no penalty</a:t>
            </a:r>
          </a:p>
          <a:p>
            <a:pPr>
              <a:spcAft>
                <a:spcPts val="1000"/>
              </a:spcAft>
              <a:defRPr sz="1900" b="0">
                <a:solidFill>
                  <a:srgbClr val="B32D2D"/>
                </a:solidFill>
              </a:defRPr>
            </a:pPr>
            <a:r>
              <a:t>   – c3 (−, stability 0.9) fires   →  −0.9</a:t>
            </a:r>
          </a:p>
          <a:p>
            <a:pPr>
              <a:spcAft>
                <a:spcPts val="1000"/>
              </a:spcAft>
              <a:defRPr sz="1900" b="1">
                <a:solidFill>
                  <a:srgbClr val="1F3B57"/>
                </a:solidFill>
              </a:defRPr>
            </a:pPr>
            <a:r>
              <a:t>   – Score(DDoS | X) = (1.0 − 0.9) / 1.0 = 0.1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We compute this score for all 6 classes; the highest score wins.</a:t>
            </a:r>
          </a:p>
          <a:p>
            <a:pPr>
              <a:spcAft>
                <a:spcPts val="1000"/>
              </a:spcAft>
              <a:defRPr sz="2200" b="1">
                <a:solidFill>
                  <a:srgbClr val="2F8F4E"/>
                </a:solidFill>
              </a:defRPr>
            </a:pPr>
            <a:r>
              <a:t>• Every point in the score is traceable to a readable clause.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Does It Work? Results on CICIoMT2024 (IoMT dataset)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429768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macro-F1 (6 attack families)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TM alone (full pool)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0.692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good detector, no explanation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CAS (full pool)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evidence-based answer is better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CAS (pruned pool)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0.787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best: fewer clauses, better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1148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22222"/>
                </a:solidFill>
              </a:defRPr>
            </a:pPr>
            <a:r>
              <a:t>• Binary (Benign vs Attack): CAS reaches AUROC 0.929 vs 0.874 for the TM.</a:t>
            </a:r>
          </a:p>
          <a:p>
            <a:pPr>
              <a:spcAft>
                <a:spcPts val="1000"/>
              </a:spcAft>
              <a:defRPr sz="2000" b="0">
                <a:solidFill>
                  <a:srgbClr val="222222"/>
                </a:solidFill>
              </a:defRPr>
            </a:pPr>
            <a:r>
              <a:t>• Pruning removed 83.75% of clauses and the answer got BETTER, not worse.</a:t>
            </a:r>
          </a:p>
          <a:p>
            <a:pPr>
              <a:spcAft>
                <a:spcPts val="1000"/>
              </a:spcAft>
              <a:defRPr sz="2000" b="0">
                <a:solidFill>
                  <a:srgbClr val="222222"/>
                </a:solidFill>
              </a:defRPr>
            </a:pPr>
            <a:r>
              <a:t>• Signatures are compact: e.g. 63 clauses explain Benign instead of 167.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in 4 Sentences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1. Train a Tsetlin Machine → it gives thousands of readable IF-rules (clauses).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2. Throw away weak clauses (pruning) → smaller, cleaner pool.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3. CPSS keeps only clauses picked again and again across data splits,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with a sign: supports (+) or argues against (−) each attack family.</a:t>
            </a:r>
          </a:p>
          <a:p>
            <a:pPr>
              <a:spcAft>
                <a:spcPts val="1000"/>
              </a:spcAft>
              <a:defRPr sz="2200" b="0">
                <a:solidFill>
                  <a:srgbClr val="222222"/>
                </a:solidFill>
              </a:defRPr>
            </a:pPr>
            <a:r>
              <a:t>• 4. A new flow is scored by matching this signed evidence → attack family + reasons.</a:t>
            </a:r>
          </a:p>
          <a:p>
            <a:pPr>
              <a:spcAft>
                <a:spcPts val="1000"/>
              </a:spcAft>
              <a:defRPr sz="2200" b="1">
                <a:solidFill>
                  <a:srgbClr val="B32D2D"/>
                </a:solidFill>
              </a:defRPr>
            </a:pPr>
            <a:r>
              <a:t>• Honest limitations: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Tested on one capped dataset; needs validation on other data.</a:t>
            </a:r>
          </a:p>
          <a:p>
            <a:pPr>
              <a:spcAft>
                <a:spcPts val="1000"/>
              </a:spcAft>
              <a:defRPr sz="1900" b="0">
                <a:solidFill>
                  <a:srgbClr val="222222"/>
                </a:solidFill>
              </a:defRPr>
            </a:pPr>
            <a:r>
              <a:t>   – Signatures are evidence, not proof of a cause.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
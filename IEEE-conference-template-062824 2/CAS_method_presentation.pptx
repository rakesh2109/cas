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a Tsetlin Machine already gives us human-readable rules, but far too many of them. CAS is a procedure that keeps only the rules that behave like real evidence for an attack family, labels each one 'for' or 'against', and attaches a number saying how many could still be noise.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TM learns 400 if-then rules per family, six families, so 2,400 rules in one model. Example rule on screen. The trouble: on any given run many of these fire by luck or just repeat each other. If a forensic analyst asks 'why did you call this DDoS', we cannot hand over 2,400 rules. So the question CAS answers is: which rules are stable, real evidence - and are they evidence for the family or against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Whole method in one picture. Left to right: take CICIoMT2024 flows, turn each number into threshold bits, train the weighted TM, read off which clauses fire. Then the CAS part: stability-select per family, split by sign, and score. The grey box at the bottom is the two guarantees we can prove about the result. Next slides walk the four CAS steps.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is just a change of representation. Push every flow through the already-trained TM and record, for each clause, 1 if it fired and 0 if not. So a flow stops being 22 numbers and becomes 2,400 yes/no answers - 'which of my known rules match this flow'. Everything after this works on those bits, which is what makes the output readable.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is the core. For one family versus all the rest: take the flows - each flow is its 2,400 clause bits from Step 1, not the raw features - split them into two complementary halves, fit a sparse logistic model on each half. The model's inputs are the clause bits, so 'sparse' means it is forced to pick only a handful of clauses. Each fit actually tries six penalty strengths and we count a clause if it survives any of them. Do this for B rounds, two halves per round, so 2B fits total - not B. pi-hat for a clause is the fraction of those 2B fits that picked it. Keep a clause only if pi-hat is at least 0.8 - picked almost every time. A clause that only showed up in a lucky fit is gone. We use 0.8 not 0.6 because at 0.6 the kept set wobbles run to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stably selected tells us a clause matters, not which direction. Some kept clauses have a positive weight - they fire on the family, that's evidence for. Some have a negative weight - they fire on everything except the family, that's a benign habit, evidence against. We average the sign over all the fits and split the signature into S-plus and S-minus. This matters a lot: when we skipped it and treated every clause as support, the score was 0.004 F1, worse than a coin flip.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scores a new flow against each family. Add the pi-hat of every 'for' clause that fires, subtract the pi-hat of every 'against' clause that fires, then divide by the total 'for' weight. The pi-hat is the weight, so a clause kept 97% of the time counts more than one kept 80% - no extra parameter. Dividing by the total is important: without it a family with more clauses always wins just for being bigger. With it, the score means 'what fraction of the possible evidence actually showed up'. Highest score across the six families is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run-through for DDoS. Its signature after steps 2 and 3: two 'for' clauses, c1 and c3, and one 'against' clause, c4. Total 'for' weight 1.87. Flow x fires both 'for' clauses and not c4: score is 1.87 over 1.87 equals 1.0, a clean match. Flow y fires only the 'against' clause: minus 0.87 over 1.87 equals minus 0.47, actively arguing this is not DDoS. Do the same for all six families and take the top score.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reviewer should believe the list. The Shah-Samworth bound gives a number, E of V, for how many kept clauses could be spurious. For Benign, 216 kept, bound says at most 165 could be noise - so at least 51 are solid. The bound is loose and we say so. It falls straight out of the re-selection fractions from step 2, no extra assumptions. Second guarantee is identifiability: even though the six signatures overlap, any mixture of up to five families can still be decoded uniquely - they form a 5-disjunct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line. On family attribution CAS goes from 0.69 to 0.77 macro-F1 over the base TM, three seeds. Collapsed to just attack-versus-normal, AUROC 0.82 to 0.94. And it does this with about 40 clauses per family out of 2,400, every number reproducible, each list carrying its bound. The honest limits: it's weak at spotting a brand-new attack family it never trained on, the specific clause identities don't survive retraining, and the whole thing only helps when the base detector had room to improve.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914400" y="2286000"/>
            <a:ext cx="10332720" cy="2377440"/>
          </a:xfrm>
          <a:prstGeom prst="rect">
            <a:avLst/>
          </a:prstGeom>
          <a:noFill/>
        </p:spPr>
        <p:txBody>
          <a:bodyPr wrap="square">
            <a:spAutoFit/>
          </a:bodyPr>
          <a:lstStyle/>
          <a:p>
            <a:pPr algn="l"/>
            <a:r>
              <a:rPr sz="4000" b="1">
                <a:solidFill>
                  <a:srgbClr val="1A1A2E"/>
                </a:solidFill>
                <a:latin typeface="Calibri"/>
              </a:rPr>
              <a:t>Clause-Activation Signatures </a:t>
            </a:r>
            <a:r>
              <a:rPr sz="4000" b="1">
                <a:solidFill>
                  <a:srgbClr val="1B4F9C"/>
                </a:solidFill>
                <a:latin typeface="Calibri"/>
              </a:rPr>
              <a:t>(CAS)</a:t>
            </a:r>
          </a:p>
          <a:p>
            <a:pPr algn="l"/>
            <a:r>
              <a:rPr sz="1800" b="0">
                <a:solidFill>
                  <a:srgbClr val="666672"/>
                </a:solidFill>
                <a:latin typeface="Calibri"/>
              </a:rPr>
              <a:t>A short, signed, checkable evidence list per attack family - pulled out of a Tsetlin Machine's 2,400 rules</a:t>
            </a:r>
          </a:p>
        </p:txBody>
      </p:sp>
      <p:sp>
        <p:nvSpPr>
          <p:cNvPr id="3" name="TextBox 2"/>
          <p:cNvSpPr txBox="1"/>
          <p:nvPr/>
        </p:nvSpPr>
        <p:spPr>
          <a:xfrm>
            <a:off x="914400" y="4937760"/>
            <a:ext cx="10332720" cy="457200"/>
          </a:xfrm>
          <a:prstGeom prst="rect">
            <a:avLst/>
          </a:prstGeom>
          <a:noFill/>
        </p:spPr>
        <p:txBody>
          <a:bodyPr wrap="square">
            <a:spAutoFit/>
          </a:bodyPr>
          <a:lstStyle/>
          <a:p>
            <a:pPr algn="l"/>
            <a:r>
              <a:rPr sz="1300" b="0">
                <a:solidFill>
                  <a:srgbClr val="1B4F9C"/>
                </a:solidFill>
                <a:latin typeface="Calibri"/>
              </a:rPr>
              <a:t>Rakesh Reddy Yakkati et al.    ·    method walkthrough    ·    CICIoMT2024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
            <a:ext cx="11155680" cy="841248"/>
          </a:xfrm>
          <a:prstGeom prst="rect">
            <a:avLst/>
          </a:prstGeom>
          <a:noFill/>
        </p:spPr>
        <p:txBody>
          <a:bodyPr wrap="square">
            <a:spAutoFit/>
          </a:bodyPr>
          <a:lstStyle/>
          <a:p>
            <a:r>
              <a:rPr sz="1100" b="1">
                <a:solidFill>
                  <a:srgbClr val="CFDDF2"/>
                </a:solidFill>
                <a:latin typeface="Calibri"/>
              </a:rPr>
              <a:t>MOTIVATION</a:t>
            </a:r>
          </a:p>
          <a:p>
            <a:r>
              <a:rPr sz="2200" b="1">
                <a:solidFill>
                  <a:srgbClr val="FFFFFF"/>
                </a:solidFill>
                <a:latin typeface="Calibri"/>
              </a:rPr>
              <a:t>2,400 rules - which ones are real evidence?</a:t>
            </a:r>
          </a:p>
        </p:txBody>
      </p:sp>
      <p:sp>
        <p:nvSpPr>
          <p:cNvPr id="4" name="Rounded Rectangle 3"/>
          <p:cNvSpPr/>
          <p:nvPr/>
        </p:nvSpPr>
        <p:spPr>
          <a:xfrm>
            <a:off x="640080" y="1371600"/>
            <a:ext cx="4846320" cy="4023360"/>
          </a:xfrm>
          <a:prstGeom prst="roundRect">
            <a:avLst/>
          </a:prstGeom>
          <a:solidFill>
            <a:srgbClr val="F5F7FA"/>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1A1A2E"/>
                </a:solidFill>
                <a:latin typeface="Calibri"/>
              </a:rPr>
              <a:t/>
            </a:r>
          </a:p>
        </p:txBody>
      </p:sp>
      <p:sp>
        <p:nvSpPr>
          <p:cNvPr id="5" name="TextBox 4"/>
          <p:cNvSpPr txBox="1"/>
          <p:nvPr/>
        </p:nvSpPr>
        <p:spPr>
          <a:xfrm>
            <a:off x="640080" y="1481328"/>
            <a:ext cx="4846320" cy="365760"/>
          </a:xfrm>
          <a:prstGeom prst="rect">
            <a:avLst/>
          </a:prstGeom>
          <a:noFill/>
        </p:spPr>
        <p:txBody>
          <a:bodyPr wrap="square">
            <a:spAutoFit/>
          </a:bodyPr>
          <a:lstStyle/>
          <a:p>
            <a:pPr algn="ctr"/>
            <a:r>
              <a:rPr sz="1300" b="1">
                <a:solidFill>
                  <a:srgbClr val="1B4F9C"/>
                </a:solidFill>
                <a:latin typeface="Calibri"/>
              </a:rPr>
              <a:t>Trained Tsetlin Machine</a:t>
            </a:r>
          </a:p>
        </p:txBody>
      </p:sp>
      <p:sp>
        <p:nvSpPr>
          <p:cNvPr id="6" name="Rectangle 5"/>
          <p:cNvSpPr/>
          <p:nvPr/>
        </p:nvSpPr>
        <p:spPr>
          <a:xfrm>
            <a:off x="1051560"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43584"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35607"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27631" y="1965960"/>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19655"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11680"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03704"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95728" y="1965960"/>
            <a:ext cx="153619" cy="153619"/>
          </a:xfrm>
          <a:prstGeom prst="rect">
            <a:avLst/>
          </a:prstGeom>
          <a:solidFill>
            <a:srgbClr val="B03A1A"/>
          </a:solidFill>
          <a:ln w="6350">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87752"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79776" y="1965960"/>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71800"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63824"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55848"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47872"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739896"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931920"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23944"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15968" y="1965960"/>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07992"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00016"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92040" y="196596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51560"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243584" y="2157984"/>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35607"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627631"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19655"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011680" y="2157984"/>
            <a:ext cx="153619" cy="153619"/>
          </a:xfrm>
          <a:prstGeom prst="rect">
            <a:avLst/>
          </a:prstGeom>
          <a:solidFill>
            <a:srgbClr val="B03A1A"/>
          </a:solidFill>
          <a:ln w="6350">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203704"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95728"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87752"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79776"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71800"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63824"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55848"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547872" y="2157984"/>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739896"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931920"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123944"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315968"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07992"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700016" y="215798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892040" y="2157984"/>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51560"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243584"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435607"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627631"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819655"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011680"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203704"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395728" y="2350008"/>
            <a:ext cx="153619" cy="153619"/>
          </a:xfrm>
          <a:prstGeom prst="rect">
            <a:avLst/>
          </a:prstGeom>
          <a:solidFill>
            <a:srgbClr val="B03A1A"/>
          </a:solidFill>
          <a:ln w="6350">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587752"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779776"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971800"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163824"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355848"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547872" y="2350008"/>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739896"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931920"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123944"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315968"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507992"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700016"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892040" y="235000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51560" y="2542032"/>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243584"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435607"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627631"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819655"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011680"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203704"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395728"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587752" y="2542032"/>
            <a:ext cx="153619" cy="153619"/>
          </a:xfrm>
          <a:prstGeom prst="rect">
            <a:avLst/>
          </a:prstGeom>
          <a:solidFill>
            <a:srgbClr val="B03A1A"/>
          </a:solidFill>
          <a:ln w="6350">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779776"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971800"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163824"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3355848"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3547872"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739896"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931920" y="2542032"/>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123944"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315968"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4507992"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700016"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892040" y="254203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51560"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243584"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435607"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627631"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819655" y="2734056"/>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2011680"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203704"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395728"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2587752"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779776"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971800"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3163824" y="2734056"/>
            <a:ext cx="153619" cy="153619"/>
          </a:xfrm>
          <a:prstGeom prst="rect">
            <a:avLst/>
          </a:prstGeom>
          <a:solidFill>
            <a:srgbClr val="B03A1A"/>
          </a:solidFill>
          <a:ln w="6350">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3355848"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3547872"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3739896"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3931920"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4123944"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315968" y="2734056"/>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4507992"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4700016"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4892040" y="2734056"/>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51560"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243584"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435607"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627631"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819655"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2011680"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2203704"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2395728" y="2926080"/>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2587752"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2779776"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2971800"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3163824"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3355848"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3547872"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3739896"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3931920"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4123944"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4315968"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4507992"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4700016"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4892040" y="2926080"/>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051560"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243584"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435607"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627631" y="3118104"/>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819655"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2011680"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2203704"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2395728" y="3118104"/>
            <a:ext cx="153619" cy="153619"/>
          </a:xfrm>
          <a:prstGeom prst="rect">
            <a:avLst/>
          </a:prstGeom>
          <a:solidFill>
            <a:srgbClr val="B03A1A"/>
          </a:solidFill>
          <a:ln w="6350">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2587752"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779776"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2971800"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163824"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3355848"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3547872"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3739896" y="3118104"/>
            <a:ext cx="153619" cy="153619"/>
          </a:xfrm>
          <a:prstGeom prst="rect">
            <a:avLst/>
          </a:prstGeom>
          <a:solidFill>
            <a:srgbClr val="1B4F9C"/>
          </a:solidFill>
          <a:ln w="6350">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3931920"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4123944"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4315968"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4507992"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4700016"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4892040" y="3118104"/>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051560"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243584"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1435607"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1627631"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819655"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2011680"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2203704"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2395728"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2587752"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2779776"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2971800"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3163824"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3355848"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3547872"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3739896"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3931920"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4123944"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4315968"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4507992"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4700016"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4892040" y="3310128"/>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051560"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1243584"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1435607"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1627631"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1819655"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2011680"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2203704"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2395728"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2587752"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2779776"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2971800"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3163824"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3355848"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3547872"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3739896"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3931920"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4123944"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4315968"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4507992"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4700016"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4892040" y="3502152"/>
            <a:ext cx="153619" cy="153619"/>
          </a:xfrm>
          <a:prstGeom prst="rect">
            <a:avLst/>
          </a:prstGeom>
          <a:solidFill>
            <a:srgbClr val="DDDDE2"/>
          </a:solidFill>
          <a:ln w="6350">
            <a:solidFill>
              <a:srgbClr val="C8C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40080" y="3886200"/>
            <a:ext cx="4846320" cy="1280160"/>
          </a:xfrm>
          <a:prstGeom prst="rect">
            <a:avLst/>
          </a:prstGeom>
          <a:noFill/>
        </p:spPr>
        <p:txBody>
          <a:bodyPr wrap="square">
            <a:spAutoFit/>
          </a:bodyPr>
          <a:lstStyle/>
          <a:p>
            <a:pPr algn="ctr"/>
            <a:r>
              <a:rPr sz="1200" b="0">
                <a:solidFill>
                  <a:srgbClr val="666672"/>
                </a:solidFill>
                <a:latin typeface="Calibri"/>
              </a:rPr>
              <a:t>6 families x 400 clauses = 2,400 rules</a:t>
            </a:r>
          </a:p>
          <a:p>
            <a:pPr algn="ctr"/>
            <a:r>
              <a:rPr sz="1200" b="0">
                <a:solidFill>
                  <a:srgbClr val="666672"/>
                </a:solidFill>
                <a:latin typeface="Calibri"/>
              </a:rPr>
              <a:t>most fire by chance or duplicate  ·  a few truly mark an attack</a:t>
            </a:r>
          </a:p>
        </p:txBody>
      </p:sp>
      <p:cxnSp>
        <p:nvCxnSpPr>
          <p:cNvPr id="196" name="Connector 195"/>
          <p:cNvCxnSpPr/>
          <p:nvPr/>
        </p:nvCxnSpPr>
        <p:spPr>
          <a:xfrm>
            <a:off x="5669280" y="3383280"/>
            <a:ext cx="1097280" cy="0"/>
          </a:xfrm>
          <a:prstGeom prst="line">
            <a:avLst/>
          </a:prstGeom>
          <a:ln w="38100">
            <a:solidFill>
              <a:srgbClr val="1B4F9C"/>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97" name="Rounded Rectangle 196"/>
          <p:cNvSpPr/>
          <p:nvPr/>
        </p:nvSpPr>
        <p:spPr>
          <a:xfrm>
            <a:off x="6858000" y="2148840"/>
            <a:ext cx="4754880" cy="246888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1B4F9C"/>
                </a:solidFill>
                <a:latin typeface="Calibri"/>
              </a:rPr>
              <a:t>CAS</a:t>
            </a:r>
          </a:p>
          <a:p>
            <a:pPr algn="ctr"/>
            <a:r>
              <a:rPr sz="1300" b="0">
                <a:solidFill>
                  <a:srgbClr val="1A1A2E"/>
                </a:solidFill>
                <a:latin typeface="Calibri"/>
              </a:rPr>
              <a:t>keep only the rules re-selected</a:t>
            </a:r>
          </a:p>
          <a:p>
            <a:pPr algn="ctr"/>
            <a:r>
              <a:rPr sz="1300" b="0">
                <a:solidFill>
                  <a:srgbClr val="1A1A2E"/>
                </a:solidFill>
                <a:latin typeface="Calibri"/>
              </a:rPr>
              <a:t>as evidence again and again,</a:t>
            </a:r>
          </a:p>
          <a:p>
            <a:pPr algn="ctr"/>
            <a:r>
              <a:rPr sz="1300" b="0">
                <a:solidFill>
                  <a:srgbClr val="1A1A2E"/>
                </a:solidFill>
                <a:latin typeface="Calibri"/>
              </a:rPr>
              <a:t>then label each  FOR  /  AGAINST</a:t>
            </a:r>
          </a:p>
        </p:txBody>
      </p:sp>
      <p:sp>
        <p:nvSpPr>
          <p:cNvPr id="198" name="Rounded Rectangle 197"/>
          <p:cNvSpPr/>
          <p:nvPr/>
        </p:nvSpPr>
        <p:spPr>
          <a:xfrm>
            <a:off x="640080" y="5623560"/>
            <a:ext cx="10972800" cy="868680"/>
          </a:xfrm>
          <a:prstGeom prst="roundRect">
            <a:avLst/>
          </a:prstGeom>
          <a:solidFill>
            <a:srgbClr val="FBF3E6"/>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B03A1A"/>
                </a:solidFill>
                <a:latin typeface="Calibri"/>
              </a:rPr>
              <a:t>NOTE:  </a:t>
            </a:r>
            <a:r>
              <a:rPr sz="1100" b="0">
                <a:solidFill>
                  <a:srgbClr val="1A1A2E"/>
                </a:solidFill>
                <a:latin typeface="Calibri"/>
              </a:rPr>
              <a:t>CAS does not retrain or change the TM. It reads a frozen model and distils its rules - the base detector is untouched.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
            <a:ext cx="11155680" cy="841248"/>
          </a:xfrm>
          <a:prstGeom prst="rect">
            <a:avLst/>
          </a:prstGeom>
          <a:noFill/>
        </p:spPr>
        <p:txBody>
          <a:bodyPr wrap="square">
            <a:spAutoFit/>
          </a:bodyPr>
          <a:lstStyle/>
          <a:p>
            <a:r>
              <a:rPr sz="1100" b="1">
                <a:solidFill>
                  <a:srgbClr val="CFDDF2"/>
                </a:solidFill>
                <a:latin typeface="Calibri"/>
              </a:rPr>
              <a:t>OVERVIEW</a:t>
            </a:r>
          </a:p>
          <a:p>
            <a:r>
              <a:rPr sz="2200" b="1">
                <a:solidFill>
                  <a:srgbClr val="FFFFFF"/>
                </a:solidFill>
                <a:latin typeface="Calibri"/>
              </a:rPr>
              <a:t>The pipeline</a:t>
            </a:r>
          </a:p>
        </p:txBody>
      </p:sp>
      <p:pic>
        <p:nvPicPr>
          <p:cNvPr id="4" name="Picture 3" descr="fig1_pipeline_preview.png"/>
          <p:cNvPicPr>
            <a:picLocks noChangeAspect="1"/>
          </p:cNvPicPr>
          <p:nvPr/>
        </p:nvPicPr>
        <p:blipFill>
          <a:blip r:embed="rId2"/>
          <a:stretch>
            <a:fillRect/>
          </a:stretch>
        </p:blipFill>
        <p:spPr>
          <a:xfrm>
            <a:off x="640080" y="1371600"/>
            <a:ext cx="10972800" cy="3911019"/>
          </a:xfrm>
          <a:prstGeom prst="rect">
            <a:avLst/>
          </a:prstGeom>
        </p:spPr>
      </p:pic>
      <p:sp>
        <p:nvSpPr>
          <p:cNvPr id="5" name="TextBox 4"/>
          <p:cNvSpPr txBox="1"/>
          <p:nvPr/>
        </p:nvSpPr>
        <p:spPr>
          <a:xfrm>
            <a:off x="640080" y="5532120"/>
            <a:ext cx="10881360" cy="914400"/>
          </a:xfrm>
          <a:prstGeom prst="rect">
            <a:avLst/>
          </a:prstGeom>
          <a:noFill/>
        </p:spPr>
        <p:txBody>
          <a:bodyPr wrap="square">
            <a:spAutoFit/>
          </a:bodyPr>
          <a:lstStyle/>
          <a:p>
            <a:pPr algn="ctr"/>
            <a:r>
              <a:rPr sz="1300" b="1">
                <a:solidFill>
                  <a:srgbClr val="1A1A2E"/>
                </a:solidFill>
                <a:latin typeface="Calibri"/>
              </a:rPr>
              <a:t>frozen TM  -&gt;  which clauses fire  -&gt;  keep the stable ones  -&gt;  split FOR / AGAINST  -&gt;  score each family, highest wins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
            <a:ext cx="11155680" cy="841248"/>
          </a:xfrm>
          <a:prstGeom prst="rect">
            <a:avLst/>
          </a:prstGeom>
          <a:noFill/>
        </p:spPr>
        <p:txBody>
          <a:bodyPr wrap="square">
            <a:spAutoFit/>
          </a:bodyPr>
          <a:lstStyle/>
          <a:p>
            <a:r>
              <a:rPr sz="1100" b="1">
                <a:solidFill>
                  <a:srgbClr val="CFDDF2"/>
                </a:solidFill>
                <a:latin typeface="Calibri"/>
              </a:rPr>
              <a:t>STEP 1 OF 4</a:t>
            </a:r>
          </a:p>
          <a:p>
            <a:r>
              <a:rPr sz="2200" b="1">
                <a:solidFill>
                  <a:srgbClr val="FFFFFF"/>
                </a:solidFill>
                <a:latin typeface="Calibri"/>
              </a:rPr>
              <a:t>Clause activations - a flow becomes the rules it triggers</a:t>
            </a:r>
          </a:p>
        </p:txBody>
      </p:sp>
      <p:sp>
        <p:nvSpPr>
          <p:cNvPr id="4" name="Rounded Rectangle 3"/>
          <p:cNvSpPr/>
          <p:nvPr/>
        </p:nvSpPr>
        <p:spPr>
          <a:xfrm>
            <a:off x="640080" y="2468880"/>
            <a:ext cx="1737360" cy="1005840"/>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a:solidFill>
                  <a:srgbClr val="1A1A2E"/>
                </a:solidFill>
                <a:latin typeface="Calibri"/>
              </a:rPr>
              <a:t>network</a:t>
            </a:r>
          </a:p>
          <a:p>
            <a:pPr algn="ctr"/>
            <a:r>
              <a:rPr sz="1300" b="1">
                <a:solidFill>
                  <a:srgbClr val="1A1A2E"/>
                </a:solidFill>
                <a:latin typeface="Calibri"/>
              </a:rPr>
              <a:t>flow  x</a:t>
            </a:r>
          </a:p>
        </p:txBody>
      </p:sp>
      <p:cxnSp>
        <p:nvCxnSpPr>
          <p:cNvPr id="5" name="Connector 4"/>
          <p:cNvCxnSpPr/>
          <p:nvPr/>
        </p:nvCxnSpPr>
        <p:spPr>
          <a:xfrm>
            <a:off x="2468880" y="2971800"/>
            <a:ext cx="822960" cy="0"/>
          </a:xfrm>
          <a:prstGeom prst="line">
            <a:avLst/>
          </a:prstGeom>
          <a:ln w="31750">
            <a:solidFill>
              <a:srgbClr val="1B4F9C"/>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383280" y="1828800"/>
            <a:ext cx="3017520" cy="2377440"/>
          </a:xfrm>
          <a:prstGeom prst="roundRect">
            <a:avLst/>
          </a:prstGeom>
          <a:solidFill>
            <a:srgbClr val="F5F7FA"/>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1A1A2E"/>
                </a:solidFill>
                <a:latin typeface="Calibri"/>
              </a:rPr>
              <a:t/>
            </a:r>
          </a:p>
        </p:txBody>
      </p:sp>
      <p:sp>
        <p:nvSpPr>
          <p:cNvPr id="7" name="TextBox 6"/>
          <p:cNvSpPr txBox="1"/>
          <p:nvPr/>
        </p:nvSpPr>
        <p:spPr>
          <a:xfrm>
            <a:off x="3383280" y="1901952"/>
            <a:ext cx="3017520" cy="320040"/>
          </a:xfrm>
          <a:prstGeom prst="rect">
            <a:avLst/>
          </a:prstGeom>
          <a:noFill/>
        </p:spPr>
        <p:txBody>
          <a:bodyPr wrap="square">
            <a:spAutoFit/>
          </a:bodyPr>
          <a:lstStyle/>
          <a:p>
            <a:pPr algn="ctr"/>
            <a:r>
              <a:rPr sz="1200" b="1">
                <a:solidFill>
                  <a:srgbClr val="1B4F9C"/>
                </a:solidFill>
                <a:latin typeface="Calibri"/>
              </a:rPr>
              <a:t>frozen TM</a:t>
            </a:r>
          </a:p>
        </p:txBody>
      </p:sp>
      <p:sp>
        <p:nvSpPr>
          <p:cNvPr id="8" name="Rounded Rectangle 7"/>
          <p:cNvSpPr/>
          <p:nvPr/>
        </p:nvSpPr>
        <p:spPr>
          <a:xfrm>
            <a:off x="3657600" y="2286000"/>
            <a:ext cx="1188720" cy="384048"/>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1E7A3C"/>
                </a:solidFill>
                <a:latin typeface="Calibri"/>
              </a:rPr>
              <a:t>clause 12</a:t>
            </a:r>
          </a:p>
        </p:txBody>
      </p:sp>
      <p:sp>
        <p:nvSpPr>
          <p:cNvPr id="9" name="Rounded Rectangle 8"/>
          <p:cNvSpPr/>
          <p:nvPr/>
        </p:nvSpPr>
        <p:spPr>
          <a:xfrm>
            <a:off x="4937760" y="2286000"/>
            <a:ext cx="1188720" cy="384048"/>
          </a:xfrm>
          <a:prstGeom prst="roundRect">
            <a:avLst/>
          </a:prstGeom>
          <a:solidFill>
            <a:srgbClr val="FFFFFF"/>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666672"/>
                </a:solidFill>
                <a:latin typeface="Calibri"/>
              </a:rPr>
              <a:t>clause 42</a:t>
            </a:r>
          </a:p>
        </p:txBody>
      </p:sp>
      <p:sp>
        <p:nvSpPr>
          <p:cNvPr id="10" name="Rounded Rectangle 9"/>
          <p:cNvSpPr/>
          <p:nvPr/>
        </p:nvSpPr>
        <p:spPr>
          <a:xfrm>
            <a:off x="3657600" y="2834640"/>
            <a:ext cx="1188720" cy="384048"/>
          </a:xfrm>
          <a:prstGeom prst="roundRect">
            <a:avLst/>
          </a:prstGeom>
          <a:solidFill>
            <a:srgbClr val="FFFFFF"/>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666672"/>
                </a:solidFill>
                <a:latin typeface="Calibri"/>
              </a:rPr>
              <a:t>clause 72</a:t>
            </a:r>
          </a:p>
        </p:txBody>
      </p:sp>
      <p:sp>
        <p:nvSpPr>
          <p:cNvPr id="11" name="Rounded Rectangle 10"/>
          <p:cNvSpPr/>
          <p:nvPr/>
        </p:nvSpPr>
        <p:spPr>
          <a:xfrm>
            <a:off x="4937760" y="2834640"/>
            <a:ext cx="1188720" cy="384048"/>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1E7A3C"/>
                </a:solidFill>
                <a:latin typeface="Calibri"/>
              </a:rPr>
              <a:t>clause 102</a:t>
            </a:r>
          </a:p>
        </p:txBody>
      </p:sp>
      <p:sp>
        <p:nvSpPr>
          <p:cNvPr id="12" name="Rounded Rectangle 11"/>
          <p:cNvSpPr/>
          <p:nvPr/>
        </p:nvSpPr>
        <p:spPr>
          <a:xfrm>
            <a:off x="3657600" y="3383280"/>
            <a:ext cx="1188720" cy="384048"/>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1E7A3C"/>
                </a:solidFill>
                <a:latin typeface="Calibri"/>
              </a:rPr>
              <a:t>clause 132</a:t>
            </a:r>
          </a:p>
        </p:txBody>
      </p:sp>
      <p:sp>
        <p:nvSpPr>
          <p:cNvPr id="13" name="Rounded Rectangle 12"/>
          <p:cNvSpPr/>
          <p:nvPr/>
        </p:nvSpPr>
        <p:spPr>
          <a:xfrm>
            <a:off x="4937760" y="3383280"/>
            <a:ext cx="1188720" cy="384048"/>
          </a:xfrm>
          <a:prstGeom prst="roundRect">
            <a:avLst/>
          </a:prstGeom>
          <a:solidFill>
            <a:srgbClr val="FFFFFF"/>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666672"/>
                </a:solidFill>
                <a:latin typeface="Calibri"/>
              </a:rPr>
              <a:t>clause 162</a:t>
            </a:r>
          </a:p>
        </p:txBody>
      </p:sp>
      <p:cxnSp>
        <p:nvCxnSpPr>
          <p:cNvPr id="14" name="Connector 13"/>
          <p:cNvCxnSpPr/>
          <p:nvPr/>
        </p:nvCxnSpPr>
        <p:spPr>
          <a:xfrm>
            <a:off x="6492240" y="2971800"/>
            <a:ext cx="822960" cy="0"/>
          </a:xfrm>
          <a:prstGeom prst="line">
            <a:avLst/>
          </a:prstGeom>
          <a:ln w="31750">
            <a:solidFill>
              <a:srgbClr val="1B4F9C"/>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60920" y="2148840"/>
            <a:ext cx="4206240" cy="365760"/>
          </a:xfrm>
          <a:prstGeom prst="rect">
            <a:avLst/>
          </a:prstGeom>
          <a:noFill/>
        </p:spPr>
        <p:txBody>
          <a:bodyPr wrap="square">
            <a:spAutoFit/>
          </a:bodyPr>
          <a:lstStyle/>
          <a:p>
            <a:pPr algn="l"/>
            <a:r>
              <a:rPr sz="1200" b="1">
                <a:solidFill>
                  <a:srgbClr val="1A1A2E"/>
                </a:solidFill>
                <a:latin typeface="Calibri"/>
              </a:rPr>
              <a:t>Z row for x   (2,400 bits)</a:t>
            </a:r>
          </a:p>
        </p:txBody>
      </p:sp>
      <p:sp>
        <p:nvSpPr>
          <p:cNvPr id="16" name="Rectangle 15"/>
          <p:cNvSpPr/>
          <p:nvPr/>
        </p:nvSpPr>
        <p:spPr>
          <a:xfrm>
            <a:off x="7360920" y="2560320"/>
            <a:ext cx="329184" cy="457200"/>
          </a:xfrm>
          <a:prstGeom prst="rect">
            <a:avLst/>
          </a:prstGeom>
          <a:solidFill>
            <a:srgbClr val="DDDDE2"/>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666672"/>
                </a:solidFill>
                <a:latin typeface="Calibri"/>
              </a:rPr>
              <a:t>0</a:t>
            </a:r>
          </a:p>
        </p:txBody>
      </p:sp>
      <p:sp>
        <p:nvSpPr>
          <p:cNvPr id="17" name="Rectangle 16"/>
          <p:cNvSpPr/>
          <p:nvPr/>
        </p:nvSpPr>
        <p:spPr>
          <a:xfrm>
            <a:off x="7726680" y="2560320"/>
            <a:ext cx="329184" cy="457200"/>
          </a:xfrm>
          <a:prstGeom prst="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1E7A3C"/>
                </a:solidFill>
                <a:latin typeface="Calibri"/>
              </a:rPr>
              <a:t>1</a:t>
            </a:r>
          </a:p>
        </p:txBody>
      </p:sp>
      <p:sp>
        <p:nvSpPr>
          <p:cNvPr id="18" name="Rectangle 17"/>
          <p:cNvSpPr/>
          <p:nvPr/>
        </p:nvSpPr>
        <p:spPr>
          <a:xfrm>
            <a:off x="8092440" y="2560320"/>
            <a:ext cx="329184" cy="457200"/>
          </a:xfrm>
          <a:prstGeom prst="rect">
            <a:avLst/>
          </a:prstGeom>
          <a:solidFill>
            <a:srgbClr val="DDDDE2"/>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666672"/>
                </a:solidFill>
                <a:latin typeface="Calibri"/>
              </a:rPr>
              <a:t>0</a:t>
            </a:r>
          </a:p>
        </p:txBody>
      </p:sp>
      <p:sp>
        <p:nvSpPr>
          <p:cNvPr id="19" name="Rectangle 18"/>
          <p:cNvSpPr/>
          <p:nvPr/>
        </p:nvSpPr>
        <p:spPr>
          <a:xfrm>
            <a:off x="8458200" y="2560320"/>
            <a:ext cx="329184" cy="457200"/>
          </a:xfrm>
          <a:prstGeom prst="rect">
            <a:avLst/>
          </a:prstGeom>
          <a:solidFill>
            <a:srgbClr val="DDDDE2"/>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666672"/>
                </a:solidFill>
                <a:latin typeface="Calibri"/>
              </a:rPr>
              <a:t>0</a:t>
            </a:r>
          </a:p>
        </p:txBody>
      </p:sp>
      <p:sp>
        <p:nvSpPr>
          <p:cNvPr id="20" name="Rectangle 19"/>
          <p:cNvSpPr/>
          <p:nvPr/>
        </p:nvSpPr>
        <p:spPr>
          <a:xfrm>
            <a:off x="8823960" y="2560320"/>
            <a:ext cx="329184" cy="457200"/>
          </a:xfrm>
          <a:prstGeom prst="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1E7A3C"/>
                </a:solidFill>
                <a:latin typeface="Calibri"/>
              </a:rPr>
              <a:t>1</a:t>
            </a:r>
          </a:p>
        </p:txBody>
      </p:sp>
      <p:sp>
        <p:nvSpPr>
          <p:cNvPr id="21" name="Rectangle 20"/>
          <p:cNvSpPr/>
          <p:nvPr/>
        </p:nvSpPr>
        <p:spPr>
          <a:xfrm>
            <a:off x="9189720" y="2560320"/>
            <a:ext cx="329184" cy="457200"/>
          </a:xfrm>
          <a:prstGeom prst="rect">
            <a:avLst/>
          </a:prstGeom>
          <a:solidFill>
            <a:srgbClr val="DDDDE2"/>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666672"/>
                </a:solidFill>
                <a:latin typeface="Calibri"/>
              </a:rPr>
              <a:t>0</a:t>
            </a:r>
          </a:p>
        </p:txBody>
      </p:sp>
      <p:sp>
        <p:nvSpPr>
          <p:cNvPr id="22" name="Rectangle 21"/>
          <p:cNvSpPr/>
          <p:nvPr/>
        </p:nvSpPr>
        <p:spPr>
          <a:xfrm>
            <a:off x="9555480" y="2560320"/>
            <a:ext cx="329184" cy="457200"/>
          </a:xfrm>
          <a:prstGeom prst="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1E7A3C"/>
                </a:solidFill>
                <a:latin typeface="Calibri"/>
              </a:rPr>
              <a:t>1</a:t>
            </a:r>
          </a:p>
        </p:txBody>
      </p:sp>
      <p:sp>
        <p:nvSpPr>
          <p:cNvPr id="23" name="Rectangle 22"/>
          <p:cNvSpPr/>
          <p:nvPr/>
        </p:nvSpPr>
        <p:spPr>
          <a:xfrm>
            <a:off x="9921240" y="2560320"/>
            <a:ext cx="329184" cy="457200"/>
          </a:xfrm>
          <a:prstGeom prst="rect">
            <a:avLst/>
          </a:prstGeom>
          <a:solidFill>
            <a:srgbClr val="DDDDE2"/>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666672"/>
                </a:solidFill>
                <a:latin typeface="Calibri"/>
              </a:rPr>
              <a:t>0</a:t>
            </a:r>
          </a:p>
        </p:txBody>
      </p:sp>
      <p:sp>
        <p:nvSpPr>
          <p:cNvPr id="24" name="Rectangle 23"/>
          <p:cNvSpPr/>
          <p:nvPr/>
        </p:nvSpPr>
        <p:spPr>
          <a:xfrm>
            <a:off x="10287000" y="2560320"/>
            <a:ext cx="329184" cy="457200"/>
          </a:xfrm>
          <a:prstGeom prst="rect">
            <a:avLst/>
          </a:prstGeom>
          <a:solidFill>
            <a:srgbClr val="DDDDE2"/>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666672"/>
                </a:solidFill>
                <a:latin typeface="Calibri"/>
              </a:rPr>
              <a:t>0</a:t>
            </a:r>
          </a:p>
        </p:txBody>
      </p:sp>
      <p:sp>
        <p:nvSpPr>
          <p:cNvPr id="25" name="Rectangle 24"/>
          <p:cNvSpPr/>
          <p:nvPr/>
        </p:nvSpPr>
        <p:spPr>
          <a:xfrm>
            <a:off x="10652760" y="2560320"/>
            <a:ext cx="329184" cy="457200"/>
          </a:xfrm>
          <a:prstGeom prst="rect">
            <a:avLst/>
          </a:prstGeom>
          <a:solidFill>
            <a:srgbClr val="DDDDE2"/>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666672"/>
                </a:solidFill>
                <a:latin typeface="Calibri"/>
              </a:rPr>
              <a:t>0</a:t>
            </a:r>
          </a:p>
        </p:txBody>
      </p:sp>
      <p:sp>
        <p:nvSpPr>
          <p:cNvPr id="26" name="Rectangle 25"/>
          <p:cNvSpPr/>
          <p:nvPr/>
        </p:nvSpPr>
        <p:spPr>
          <a:xfrm>
            <a:off x="11018520" y="2560320"/>
            <a:ext cx="329184" cy="457200"/>
          </a:xfrm>
          <a:prstGeom prst="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1E7A3C"/>
                </a:solidFill>
                <a:latin typeface="Calibri"/>
              </a:rPr>
              <a:t>1</a:t>
            </a:r>
          </a:p>
        </p:txBody>
      </p:sp>
      <p:sp>
        <p:nvSpPr>
          <p:cNvPr id="27" name="Rectangle 26"/>
          <p:cNvSpPr/>
          <p:nvPr/>
        </p:nvSpPr>
        <p:spPr>
          <a:xfrm>
            <a:off x="11384280" y="2560320"/>
            <a:ext cx="329184" cy="457200"/>
          </a:xfrm>
          <a:prstGeom prst="rect">
            <a:avLst/>
          </a:prstGeom>
          <a:solidFill>
            <a:srgbClr val="DDDDE2"/>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666672"/>
                </a:solidFill>
                <a:latin typeface="Calibri"/>
              </a:rPr>
              <a:t>0</a:t>
            </a:r>
          </a:p>
        </p:txBody>
      </p:sp>
      <p:sp>
        <p:nvSpPr>
          <p:cNvPr id="28" name="TextBox 27"/>
          <p:cNvSpPr txBox="1"/>
          <p:nvPr/>
        </p:nvSpPr>
        <p:spPr>
          <a:xfrm>
            <a:off x="7360920" y="3200400"/>
            <a:ext cx="4389120" cy="457200"/>
          </a:xfrm>
          <a:prstGeom prst="rect">
            <a:avLst/>
          </a:prstGeom>
          <a:noFill/>
        </p:spPr>
        <p:txBody>
          <a:bodyPr wrap="square">
            <a:spAutoFit/>
          </a:bodyPr>
          <a:lstStyle/>
          <a:p>
            <a:pPr algn="l"/>
            <a:r>
              <a:rPr sz="1100" b="0">
                <a:solidFill>
                  <a:srgbClr val="666672"/>
                </a:solidFill>
                <a:latin typeface="Calibri"/>
              </a:rPr>
              <a:t>1 = that rule matched x</a:t>
            </a:r>
          </a:p>
        </p:txBody>
      </p:sp>
      <p:sp>
        <p:nvSpPr>
          <p:cNvPr id="29" name="Rounded Rectangle 28"/>
          <p:cNvSpPr/>
          <p:nvPr/>
        </p:nvSpPr>
        <p:spPr>
          <a:xfrm>
            <a:off x="1828800" y="4937760"/>
            <a:ext cx="8503920" cy="822960"/>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1A1A2E"/>
                </a:solidFill>
                <a:latin typeface="Calibri"/>
              </a:rPr>
              <a:t>From here on we work only with these bits - a flow = which known rules it matches.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
            <a:ext cx="11155680" cy="841248"/>
          </a:xfrm>
          <a:prstGeom prst="rect">
            <a:avLst/>
          </a:prstGeom>
          <a:noFill/>
        </p:spPr>
        <p:txBody>
          <a:bodyPr wrap="square">
            <a:spAutoFit/>
          </a:bodyPr>
          <a:lstStyle/>
          <a:p>
            <a:r>
              <a:rPr sz="1100" b="1">
                <a:solidFill>
                  <a:srgbClr val="CFDDF2"/>
                </a:solidFill>
                <a:latin typeface="Calibri"/>
              </a:rPr>
              <a:t>STEP 2 OF 4</a:t>
            </a:r>
          </a:p>
          <a:p>
            <a:r>
              <a:rPr sz="2200" b="1">
                <a:solidFill>
                  <a:srgbClr val="FFFFFF"/>
                </a:solidFill>
                <a:latin typeface="Calibri"/>
              </a:rPr>
              <a:t>Stability voting (CPSS) - keep rules that keep getting picked</a:t>
            </a:r>
          </a:p>
        </p:txBody>
      </p:sp>
      <p:sp>
        <p:nvSpPr>
          <p:cNvPr id="4" name="Rounded Rectangle 3"/>
          <p:cNvSpPr/>
          <p:nvPr/>
        </p:nvSpPr>
        <p:spPr>
          <a:xfrm>
            <a:off x="457200" y="2377440"/>
            <a:ext cx="1371600" cy="1005840"/>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flows as</a:t>
            </a:r>
          </a:p>
          <a:p>
            <a:pPr algn="ctr"/>
            <a:r>
              <a:rPr sz="1200" b="1">
                <a:solidFill>
                  <a:srgbClr val="1A1A2E"/>
                </a:solidFill>
                <a:latin typeface="Calibri"/>
              </a:rPr>
              <a:t>Z rows</a:t>
            </a:r>
          </a:p>
          <a:p>
            <a:pPr algn="ctr"/>
            <a:r>
              <a:rPr sz="900" b="0">
                <a:solidFill>
                  <a:srgbClr val="666672"/>
                </a:solidFill>
                <a:latin typeface="Calibri"/>
              </a:rPr>
              <a:t>(Step 1)</a:t>
            </a:r>
          </a:p>
        </p:txBody>
      </p:sp>
      <p:cxnSp>
        <p:nvCxnSpPr>
          <p:cNvPr id="5" name="Connector 4"/>
          <p:cNvCxnSpPr/>
          <p:nvPr/>
        </p:nvCxnSpPr>
        <p:spPr>
          <a:xfrm>
            <a:off x="1874519" y="2880360"/>
            <a:ext cx="502921"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468880" y="1554480"/>
            <a:ext cx="4114800" cy="2743200"/>
          </a:xfrm>
          <a:prstGeom prst="roundRect">
            <a:avLst/>
          </a:prstGeom>
          <a:solidFill>
            <a:srgbClr val="F5F7FA"/>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1A1A2E"/>
                </a:solidFill>
                <a:latin typeface="Calibri"/>
              </a:rPr>
              <a:t/>
            </a:r>
          </a:p>
        </p:txBody>
      </p:sp>
      <p:sp>
        <p:nvSpPr>
          <p:cNvPr id="7" name="TextBox 6"/>
          <p:cNvSpPr txBox="1"/>
          <p:nvPr/>
        </p:nvSpPr>
        <p:spPr>
          <a:xfrm>
            <a:off x="2514600" y="1609344"/>
            <a:ext cx="4023360" cy="320040"/>
          </a:xfrm>
          <a:prstGeom prst="rect">
            <a:avLst/>
          </a:prstGeom>
          <a:noFill/>
        </p:spPr>
        <p:txBody>
          <a:bodyPr wrap="square">
            <a:spAutoFit/>
          </a:bodyPr>
          <a:lstStyle/>
          <a:p>
            <a:pPr algn="ctr"/>
            <a:r>
              <a:rPr sz="1050" b="1">
                <a:solidFill>
                  <a:srgbClr val="1B4F9C"/>
                </a:solidFill>
                <a:latin typeface="Calibri"/>
              </a:rPr>
              <a:t>one round: split into 2 complementary halves</a:t>
            </a:r>
          </a:p>
        </p:txBody>
      </p:sp>
      <p:sp>
        <p:nvSpPr>
          <p:cNvPr id="8" name="Rounded Rectangle 7"/>
          <p:cNvSpPr/>
          <p:nvPr/>
        </p:nvSpPr>
        <p:spPr>
          <a:xfrm>
            <a:off x="2697480" y="2057400"/>
            <a:ext cx="1280160" cy="731520"/>
          </a:xfrm>
          <a:prstGeom prst="roundRect">
            <a:avLst/>
          </a:prstGeom>
          <a:solidFill>
            <a:srgbClr val="FFFFFF"/>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1A1A2E"/>
                </a:solidFill>
                <a:latin typeface="Calibri"/>
              </a:rPr>
              <a:t>half A</a:t>
            </a:r>
          </a:p>
        </p:txBody>
      </p:sp>
      <p:sp>
        <p:nvSpPr>
          <p:cNvPr id="9" name="Rounded Rectangle 8"/>
          <p:cNvSpPr/>
          <p:nvPr/>
        </p:nvSpPr>
        <p:spPr>
          <a:xfrm>
            <a:off x="2697480" y="3246120"/>
            <a:ext cx="1280160" cy="731520"/>
          </a:xfrm>
          <a:prstGeom prst="roundRect">
            <a:avLst/>
          </a:prstGeom>
          <a:solidFill>
            <a:srgbClr val="FFFFFF"/>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1A1A2E"/>
                </a:solidFill>
                <a:latin typeface="Calibri"/>
              </a:rPr>
              <a:t>half B</a:t>
            </a:r>
          </a:p>
        </p:txBody>
      </p:sp>
      <p:cxnSp>
        <p:nvCxnSpPr>
          <p:cNvPr id="10" name="Connector 9"/>
          <p:cNvCxnSpPr/>
          <p:nvPr/>
        </p:nvCxnSpPr>
        <p:spPr>
          <a:xfrm>
            <a:off x="4023360" y="2423160"/>
            <a:ext cx="548640"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023360" y="3611880"/>
            <a:ext cx="548640"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617720" y="2011680"/>
            <a:ext cx="1828800" cy="822960"/>
          </a:xfrm>
          <a:prstGeom prst="roundRect">
            <a:avLst/>
          </a:prstGeom>
          <a:solidFill>
            <a:srgbClr val="F3DDD5"/>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L1-logistic fit</a:t>
            </a:r>
          </a:p>
          <a:p>
            <a:pPr algn="ctr"/>
            <a:r>
              <a:rPr sz="850" b="0">
                <a:solidFill>
                  <a:srgbClr val="666672"/>
                </a:solidFill>
                <a:latin typeface="Calibri"/>
              </a:rPr>
              <a:t>(sweep 6 penalties)</a:t>
            </a:r>
          </a:p>
        </p:txBody>
      </p:sp>
      <p:sp>
        <p:nvSpPr>
          <p:cNvPr id="13" name="Rounded Rectangle 12"/>
          <p:cNvSpPr/>
          <p:nvPr/>
        </p:nvSpPr>
        <p:spPr>
          <a:xfrm>
            <a:off x="4617720" y="3200400"/>
            <a:ext cx="1828800" cy="822960"/>
          </a:xfrm>
          <a:prstGeom prst="roundRect">
            <a:avLst/>
          </a:prstGeom>
          <a:solidFill>
            <a:srgbClr val="F3DDD5"/>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L1-logistic fit</a:t>
            </a:r>
          </a:p>
          <a:p>
            <a:pPr algn="ctr"/>
            <a:r>
              <a:rPr sz="850" b="0">
                <a:solidFill>
                  <a:srgbClr val="666672"/>
                </a:solidFill>
                <a:latin typeface="Calibri"/>
              </a:rPr>
              <a:t>(sweep 6 penalties)</a:t>
            </a:r>
          </a:p>
        </p:txBody>
      </p:sp>
      <p:cxnSp>
        <p:nvCxnSpPr>
          <p:cNvPr id="14" name="Connector 13"/>
          <p:cNvCxnSpPr/>
          <p:nvPr/>
        </p:nvCxnSpPr>
        <p:spPr>
          <a:xfrm flipH="1">
            <a:off x="2651760" y="4572000"/>
            <a:ext cx="1874520" cy="0"/>
          </a:xfrm>
          <a:prstGeom prst="line">
            <a:avLst/>
          </a:prstGeom>
          <a:ln w="25400">
            <a:solidFill>
              <a:srgbClr val="1B4F9C"/>
            </a:solidFill>
            <a:prstDash val="dash"/>
            <a:tailEnd type="triangle" w="lg" len="lg"/>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468880" y="4617720"/>
            <a:ext cx="4206240" cy="365760"/>
          </a:xfrm>
          <a:prstGeom prst="rect">
            <a:avLst/>
          </a:prstGeom>
          <a:noFill/>
        </p:spPr>
        <p:txBody>
          <a:bodyPr wrap="square">
            <a:spAutoFit/>
          </a:bodyPr>
          <a:lstStyle/>
          <a:p>
            <a:pPr algn="l"/>
            <a:r>
              <a:rPr sz="1200" b="1">
                <a:solidFill>
                  <a:srgbClr val="1B4F9C"/>
                </a:solidFill>
                <a:latin typeface="Calibri"/>
              </a:rPr>
              <a:t>×  B rounds</a:t>
            </a:r>
            <a:r>
              <a:rPr sz="1100" b="0">
                <a:solidFill>
                  <a:srgbClr val="666672"/>
                </a:solidFill>
                <a:latin typeface="Calibri"/>
              </a:rPr>
              <a:t>   →  2B half-fits</a:t>
            </a:r>
          </a:p>
        </p:txBody>
      </p:sp>
      <p:sp>
        <p:nvSpPr>
          <p:cNvPr id="16" name="TextBox 15"/>
          <p:cNvSpPr txBox="1"/>
          <p:nvPr/>
        </p:nvSpPr>
        <p:spPr>
          <a:xfrm>
            <a:off x="2468880" y="4956048"/>
            <a:ext cx="4754880" cy="365760"/>
          </a:xfrm>
          <a:prstGeom prst="rect">
            <a:avLst/>
          </a:prstGeom>
          <a:noFill/>
        </p:spPr>
        <p:txBody>
          <a:bodyPr wrap="square">
            <a:spAutoFit/>
          </a:bodyPr>
          <a:lstStyle/>
          <a:p>
            <a:pPr algn="l"/>
            <a:r>
              <a:rPr sz="950" b="0">
                <a:solidFill>
                  <a:srgbClr val="B03A1A"/>
                </a:solidFill>
                <a:latin typeface="Calibri"/>
              </a:rPr>
              <a:t>each fit's features = the 2,400 clause bits (not raw features)</a:t>
            </a:r>
          </a:p>
        </p:txBody>
      </p:sp>
      <p:cxnSp>
        <p:nvCxnSpPr>
          <p:cNvPr id="17" name="Connector 16"/>
          <p:cNvCxnSpPr/>
          <p:nvPr/>
        </p:nvCxnSpPr>
        <p:spPr>
          <a:xfrm>
            <a:off x="6629400" y="2834640"/>
            <a:ext cx="685800"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452360" y="4023360"/>
            <a:ext cx="3200400" cy="0"/>
          </a:xfrm>
          <a:prstGeom prst="line">
            <a:avLst/>
          </a:prstGeom>
          <a:ln w="12700">
            <a:solidFill>
              <a:srgbClr val="666672"/>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523480" y="1628546"/>
            <a:ext cx="213360" cy="2394813"/>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600" y="1335938"/>
            <a:ext cx="579120" cy="274320"/>
          </a:xfrm>
          <a:prstGeom prst="rect">
            <a:avLst/>
          </a:prstGeom>
          <a:noFill/>
        </p:spPr>
        <p:txBody>
          <a:bodyPr wrap="square">
            <a:spAutoFit/>
          </a:bodyPr>
          <a:lstStyle/>
          <a:p>
            <a:pPr algn="ctr"/>
            <a:r>
              <a:rPr sz="1000" b="1">
                <a:solidFill>
                  <a:srgbClr val="1A1A2E"/>
                </a:solidFill>
                <a:latin typeface="Calibri"/>
              </a:rPr>
              <a:t>0.97</a:t>
            </a:r>
          </a:p>
        </p:txBody>
      </p:sp>
      <p:sp>
        <p:nvSpPr>
          <p:cNvPr id="21" name="TextBox 20"/>
          <p:cNvSpPr txBox="1"/>
          <p:nvPr/>
        </p:nvSpPr>
        <p:spPr>
          <a:xfrm>
            <a:off x="7452360" y="4078224"/>
            <a:ext cx="355600" cy="365760"/>
          </a:xfrm>
          <a:prstGeom prst="rect">
            <a:avLst/>
          </a:prstGeom>
          <a:noFill/>
        </p:spPr>
        <p:txBody>
          <a:bodyPr wrap="square">
            <a:spAutoFit/>
          </a:bodyPr>
          <a:lstStyle/>
          <a:p>
            <a:pPr algn="ctr"/>
            <a:r>
              <a:rPr sz="1000" b="0">
                <a:solidFill>
                  <a:srgbClr val="666672"/>
                </a:solidFill>
                <a:latin typeface="Calibri"/>
              </a:rPr>
              <a:t/>
            </a:r>
          </a:p>
        </p:txBody>
      </p:sp>
      <p:sp>
        <p:nvSpPr>
          <p:cNvPr id="22" name="Rectangle 21"/>
          <p:cNvSpPr/>
          <p:nvPr/>
        </p:nvSpPr>
        <p:spPr>
          <a:xfrm>
            <a:off x="7879080" y="2665476"/>
            <a:ext cx="213360" cy="1357884"/>
          </a:xfrm>
          <a:prstGeom prst="rect">
            <a:avLst/>
          </a:prstGeom>
          <a:solidFill>
            <a:srgbClr val="DD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96200" y="2372868"/>
            <a:ext cx="579120" cy="274320"/>
          </a:xfrm>
          <a:prstGeom prst="rect">
            <a:avLst/>
          </a:prstGeom>
          <a:noFill/>
        </p:spPr>
        <p:txBody>
          <a:bodyPr wrap="square">
            <a:spAutoFit/>
          </a:bodyPr>
          <a:lstStyle/>
          <a:p>
            <a:pPr algn="ctr"/>
            <a:r>
              <a:rPr sz="1000" b="1">
                <a:solidFill>
                  <a:srgbClr val="1A1A2E"/>
                </a:solidFill>
                <a:latin typeface="Calibri"/>
              </a:rPr>
              <a:t>0.55</a:t>
            </a:r>
          </a:p>
        </p:txBody>
      </p:sp>
      <p:sp>
        <p:nvSpPr>
          <p:cNvPr id="24" name="TextBox 23"/>
          <p:cNvSpPr txBox="1"/>
          <p:nvPr/>
        </p:nvSpPr>
        <p:spPr>
          <a:xfrm>
            <a:off x="7807960" y="4078224"/>
            <a:ext cx="355600" cy="365760"/>
          </a:xfrm>
          <a:prstGeom prst="rect">
            <a:avLst/>
          </a:prstGeom>
          <a:noFill/>
        </p:spPr>
        <p:txBody>
          <a:bodyPr wrap="square">
            <a:spAutoFit/>
          </a:bodyPr>
          <a:lstStyle/>
          <a:p>
            <a:pPr algn="ctr"/>
            <a:r>
              <a:rPr sz="1000" b="0">
                <a:solidFill>
                  <a:srgbClr val="666672"/>
                </a:solidFill>
                <a:latin typeface="Calibri"/>
              </a:rPr>
              <a:t/>
            </a:r>
          </a:p>
        </p:txBody>
      </p:sp>
      <p:sp>
        <p:nvSpPr>
          <p:cNvPr id="25" name="Rectangle 24"/>
          <p:cNvSpPr/>
          <p:nvPr/>
        </p:nvSpPr>
        <p:spPr>
          <a:xfrm>
            <a:off x="8234680" y="1801368"/>
            <a:ext cx="213360" cy="2221992"/>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51800" y="1508760"/>
            <a:ext cx="579120" cy="274320"/>
          </a:xfrm>
          <a:prstGeom prst="rect">
            <a:avLst/>
          </a:prstGeom>
          <a:noFill/>
        </p:spPr>
        <p:txBody>
          <a:bodyPr wrap="square">
            <a:spAutoFit/>
          </a:bodyPr>
          <a:lstStyle/>
          <a:p>
            <a:pPr algn="ctr"/>
            <a:r>
              <a:rPr sz="1000" b="1">
                <a:solidFill>
                  <a:srgbClr val="1A1A2E"/>
                </a:solidFill>
                <a:latin typeface="Calibri"/>
              </a:rPr>
              <a:t>0.90</a:t>
            </a:r>
          </a:p>
        </p:txBody>
      </p:sp>
      <p:sp>
        <p:nvSpPr>
          <p:cNvPr id="27" name="TextBox 26"/>
          <p:cNvSpPr txBox="1"/>
          <p:nvPr/>
        </p:nvSpPr>
        <p:spPr>
          <a:xfrm>
            <a:off x="8163560" y="4078224"/>
            <a:ext cx="355600" cy="365760"/>
          </a:xfrm>
          <a:prstGeom prst="rect">
            <a:avLst/>
          </a:prstGeom>
          <a:noFill/>
        </p:spPr>
        <p:txBody>
          <a:bodyPr wrap="square">
            <a:spAutoFit/>
          </a:bodyPr>
          <a:lstStyle/>
          <a:p>
            <a:pPr algn="ctr"/>
            <a:r>
              <a:rPr sz="1000" b="0">
                <a:solidFill>
                  <a:srgbClr val="666672"/>
                </a:solidFill>
                <a:latin typeface="Calibri"/>
              </a:rPr>
              <a:t/>
            </a:r>
          </a:p>
        </p:txBody>
      </p:sp>
      <p:sp>
        <p:nvSpPr>
          <p:cNvPr id="28" name="Rectangle 27"/>
          <p:cNvSpPr/>
          <p:nvPr/>
        </p:nvSpPr>
        <p:spPr>
          <a:xfrm>
            <a:off x="8590280" y="3282696"/>
            <a:ext cx="213360" cy="740664"/>
          </a:xfrm>
          <a:prstGeom prst="rect">
            <a:avLst/>
          </a:prstGeom>
          <a:solidFill>
            <a:srgbClr val="DD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7400" y="2990088"/>
            <a:ext cx="579120" cy="274320"/>
          </a:xfrm>
          <a:prstGeom prst="rect">
            <a:avLst/>
          </a:prstGeom>
          <a:noFill/>
        </p:spPr>
        <p:txBody>
          <a:bodyPr wrap="square">
            <a:spAutoFit/>
          </a:bodyPr>
          <a:lstStyle/>
          <a:p>
            <a:pPr algn="ctr"/>
            <a:r>
              <a:rPr sz="1000" b="1">
                <a:solidFill>
                  <a:srgbClr val="1A1A2E"/>
                </a:solidFill>
                <a:latin typeface="Calibri"/>
              </a:rPr>
              <a:t>0.30</a:t>
            </a:r>
          </a:p>
        </p:txBody>
      </p:sp>
      <p:sp>
        <p:nvSpPr>
          <p:cNvPr id="30" name="TextBox 29"/>
          <p:cNvSpPr txBox="1"/>
          <p:nvPr/>
        </p:nvSpPr>
        <p:spPr>
          <a:xfrm>
            <a:off x="8519160" y="4078224"/>
            <a:ext cx="355600" cy="365760"/>
          </a:xfrm>
          <a:prstGeom prst="rect">
            <a:avLst/>
          </a:prstGeom>
          <a:noFill/>
        </p:spPr>
        <p:txBody>
          <a:bodyPr wrap="square">
            <a:spAutoFit/>
          </a:bodyPr>
          <a:lstStyle/>
          <a:p>
            <a:pPr algn="ctr"/>
            <a:r>
              <a:rPr sz="1000" b="0">
                <a:solidFill>
                  <a:srgbClr val="666672"/>
                </a:solidFill>
                <a:latin typeface="Calibri"/>
              </a:rPr>
              <a:t/>
            </a:r>
          </a:p>
        </p:txBody>
      </p:sp>
      <p:sp>
        <p:nvSpPr>
          <p:cNvPr id="31" name="Rectangle 30"/>
          <p:cNvSpPr/>
          <p:nvPr/>
        </p:nvSpPr>
        <p:spPr>
          <a:xfrm>
            <a:off x="8945880" y="1924812"/>
            <a:ext cx="213360" cy="2098548"/>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63000" y="1632204"/>
            <a:ext cx="579120" cy="274320"/>
          </a:xfrm>
          <a:prstGeom prst="rect">
            <a:avLst/>
          </a:prstGeom>
          <a:noFill/>
        </p:spPr>
        <p:txBody>
          <a:bodyPr wrap="square">
            <a:spAutoFit/>
          </a:bodyPr>
          <a:lstStyle/>
          <a:p>
            <a:pPr algn="ctr"/>
            <a:r>
              <a:rPr sz="1000" b="1">
                <a:solidFill>
                  <a:srgbClr val="1A1A2E"/>
                </a:solidFill>
                <a:latin typeface="Calibri"/>
              </a:rPr>
              <a:t>0.85</a:t>
            </a:r>
          </a:p>
        </p:txBody>
      </p:sp>
      <p:sp>
        <p:nvSpPr>
          <p:cNvPr id="33" name="TextBox 32"/>
          <p:cNvSpPr txBox="1"/>
          <p:nvPr/>
        </p:nvSpPr>
        <p:spPr>
          <a:xfrm>
            <a:off x="8874760" y="4078224"/>
            <a:ext cx="355600" cy="365760"/>
          </a:xfrm>
          <a:prstGeom prst="rect">
            <a:avLst/>
          </a:prstGeom>
          <a:noFill/>
        </p:spPr>
        <p:txBody>
          <a:bodyPr wrap="square">
            <a:spAutoFit/>
          </a:bodyPr>
          <a:lstStyle/>
          <a:p>
            <a:pPr algn="ctr"/>
            <a:r>
              <a:rPr sz="1000" b="0">
                <a:solidFill>
                  <a:srgbClr val="666672"/>
                </a:solidFill>
                <a:latin typeface="Calibri"/>
              </a:rPr>
              <a:t>clauses</a:t>
            </a:r>
          </a:p>
        </p:txBody>
      </p:sp>
      <p:sp>
        <p:nvSpPr>
          <p:cNvPr id="34" name="Rectangle 33"/>
          <p:cNvSpPr/>
          <p:nvPr/>
        </p:nvSpPr>
        <p:spPr>
          <a:xfrm>
            <a:off x="9301480" y="3109874"/>
            <a:ext cx="213360" cy="913485"/>
          </a:xfrm>
          <a:prstGeom prst="rect">
            <a:avLst/>
          </a:prstGeom>
          <a:solidFill>
            <a:srgbClr val="DD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18600" y="2817266"/>
            <a:ext cx="579120" cy="274320"/>
          </a:xfrm>
          <a:prstGeom prst="rect">
            <a:avLst/>
          </a:prstGeom>
          <a:noFill/>
        </p:spPr>
        <p:txBody>
          <a:bodyPr wrap="square">
            <a:spAutoFit/>
          </a:bodyPr>
          <a:lstStyle/>
          <a:p>
            <a:pPr algn="ctr"/>
            <a:r>
              <a:rPr sz="1000" b="1">
                <a:solidFill>
                  <a:srgbClr val="1A1A2E"/>
                </a:solidFill>
                <a:latin typeface="Calibri"/>
              </a:rPr>
              <a:t>0.37</a:t>
            </a:r>
          </a:p>
        </p:txBody>
      </p:sp>
      <p:sp>
        <p:nvSpPr>
          <p:cNvPr id="36" name="TextBox 35"/>
          <p:cNvSpPr txBox="1"/>
          <p:nvPr/>
        </p:nvSpPr>
        <p:spPr>
          <a:xfrm>
            <a:off x="9230360" y="4078224"/>
            <a:ext cx="355600" cy="365760"/>
          </a:xfrm>
          <a:prstGeom prst="rect">
            <a:avLst/>
          </a:prstGeom>
          <a:noFill/>
        </p:spPr>
        <p:txBody>
          <a:bodyPr wrap="square">
            <a:spAutoFit/>
          </a:bodyPr>
          <a:lstStyle/>
          <a:p>
            <a:pPr algn="ctr"/>
            <a:r>
              <a:rPr sz="1000" b="0">
                <a:solidFill>
                  <a:srgbClr val="666672"/>
                </a:solidFill>
                <a:latin typeface="Calibri"/>
              </a:rPr>
              <a:t/>
            </a:r>
          </a:p>
        </p:txBody>
      </p:sp>
      <p:sp>
        <p:nvSpPr>
          <p:cNvPr id="37" name="Rectangle 36"/>
          <p:cNvSpPr/>
          <p:nvPr/>
        </p:nvSpPr>
        <p:spPr>
          <a:xfrm>
            <a:off x="9657080" y="1974189"/>
            <a:ext cx="213360" cy="2049170"/>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4200" y="1681581"/>
            <a:ext cx="579120" cy="274320"/>
          </a:xfrm>
          <a:prstGeom prst="rect">
            <a:avLst/>
          </a:prstGeom>
          <a:noFill/>
        </p:spPr>
        <p:txBody>
          <a:bodyPr wrap="square">
            <a:spAutoFit/>
          </a:bodyPr>
          <a:lstStyle/>
          <a:p>
            <a:pPr algn="ctr"/>
            <a:r>
              <a:rPr sz="1000" b="1">
                <a:solidFill>
                  <a:srgbClr val="1A1A2E"/>
                </a:solidFill>
                <a:latin typeface="Calibri"/>
              </a:rPr>
              <a:t>0.83</a:t>
            </a:r>
          </a:p>
        </p:txBody>
      </p:sp>
      <p:sp>
        <p:nvSpPr>
          <p:cNvPr id="39" name="TextBox 38"/>
          <p:cNvSpPr txBox="1"/>
          <p:nvPr/>
        </p:nvSpPr>
        <p:spPr>
          <a:xfrm>
            <a:off x="9585960" y="4078224"/>
            <a:ext cx="355600" cy="365760"/>
          </a:xfrm>
          <a:prstGeom prst="rect">
            <a:avLst/>
          </a:prstGeom>
          <a:noFill/>
        </p:spPr>
        <p:txBody>
          <a:bodyPr wrap="square">
            <a:spAutoFit/>
          </a:bodyPr>
          <a:lstStyle/>
          <a:p>
            <a:pPr algn="ctr"/>
            <a:r>
              <a:rPr sz="1000" b="0">
                <a:solidFill>
                  <a:srgbClr val="666672"/>
                </a:solidFill>
                <a:latin typeface="Calibri"/>
              </a:rPr>
              <a:t/>
            </a:r>
          </a:p>
        </p:txBody>
      </p:sp>
      <p:sp>
        <p:nvSpPr>
          <p:cNvPr id="40" name="Rectangle 39"/>
          <p:cNvSpPr/>
          <p:nvPr/>
        </p:nvSpPr>
        <p:spPr>
          <a:xfrm>
            <a:off x="10012680" y="3529584"/>
            <a:ext cx="213360" cy="493776"/>
          </a:xfrm>
          <a:prstGeom prst="rect">
            <a:avLst/>
          </a:prstGeom>
          <a:solidFill>
            <a:srgbClr val="DD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29800" y="3236976"/>
            <a:ext cx="579120" cy="274320"/>
          </a:xfrm>
          <a:prstGeom prst="rect">
            <a:avLst/>
          </a:prstGeom>
          <a:noFill/>
        </p:spPr>
        <p:txBody>
          <a:bodyPr wrap="square">
            <a:spAutoFit/>
          </a:bodyPr>
          <a:lstStyle/>
          <a:p>
            <a:pPr algn="ctr"/>
            <a:r>
              <a:rPr sz="1000" b="1">
                <a:solidFill>
                  <a:srgbClr val="1A1A2E"/>
                </a:solidFill>
                <a:latin typeface="Calibri"/>
              </a:rPr>
              <a:t>0.20</a:t>
            </a:r>
          </a:p>
        </p:txBody>
      </p:sp>
      <p:sp>
        <p:nvSpPr>
          <p:cNvPr id="42" name="TextBox 41"/>
          <p:cNvSpPr txBox="1"/>
          <p:nvPr/>
        </p:nvSpPr>
        <p:spPr>
          <a:xfrm>
            <a:off x="9941560" y="4078224"/>
            <a:ext cx="355600" cy="365760"/>
          </a:xfrm>
          <a:prstGeom prst="rect">
            <a:avLst/>
          </a:prstGeom>
          <a:noFill/>
        </p:spPr>
        <p:txBody>
          <a:bodyPr wrap="square">
            <a:spAutoFit/>
          </a:bodyPr>
          <a:lstStyle/>
          <a:p>
            <a:pPr algn="ctr"/>
            <a:r>
              <a:rPr sz="1000" b="0">
                <a:solidFill>
                  <a:srgbClr val="666672"/>
                </a:solidFill>
                <a:latin typeface="Calibri"/>
              </a:rPr>
              <a:t/>
            </a:r>
          </a:p>
        </p:txBody>
      </p:sp>
      <p:sp>
        <p:nvSpPr>
          <p:cNvPr id="43" name="Rectangle 42"/>
          <p:cNvSpPr/>
          <p:nvPr/>
        </p:nvSpPr>
        <p:spPr>
          <a:xfrm>
            <a:off x="10368280" y="1751990"/>
            <a:ext cx="213360" cy="2271369"/>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85400" y="1459382"/>
            <a:ext cx="579120" cy="274320"/>
          </a:xfrm>
          <a:prstGeom prst="rect">
            <a:avLst/>
          </a:prstGeom>
          <a:noFill/>
        </p:spPr>
        <p:txBody>
          <a:bodyPr wrap="square">
            <a:spAutoFit/>
          </a:bodyPr>
          <a:lstStyle/>
          <a:p>
            <a:pPr algn="ctr"/>
            <a:r>
              <a:rPr sz="1000" b="1">
                <a:solidFill>
                  <a:srgbClr val="1A1A2E"/>
                </a:solidFill>
                <a:latin typeface="Calibri"/>
              </a:rPr>
              <a:t>0.92</a:t>
            </a:r>
          </a:p>
        </p:txBody>
      </p:sp>
      <p:sp>
        <p:nvSpPr>
          <p:cNvPr id="45" name="TextBox 44"/>
          <p:cNvSpPr txBox="1"/>
          <p:nvPr/>
        </p:nvSpPr>
        <p:spPr>
          <a:xfrm>
            <a:off x="10297160" y="4078224"/>
            <a:ext cx="355600" cy="365760"/>
          </a:xfrm>
          <a:prstGeom prst="rect">
            <a:avLst/>
          </a:prstGeom>
          <a:noFill/>
        </p:spPr>
        <p:txBody>
          <a:bodyPr wrap="square">
            <a:spAutoFit/>
          </a:bodyPr>
          <a:lstStyle/>
          <a:p>
            <a:pPr algn="ctr"/>
            <a:r>
              <a:rPr sz="1000" b="0">
                <a:solidFill>
                  <a:srgbClr val="666672"/>
                </a:solidFill>
                <a:latin typeface="Calibri"/>
              </a:rPr>
              <a:t/>
            </a:r>
          </a:p>
        </p:txBody>
      </p:sp>
      <p:cxnSp>
        <p:nvCxnSpPr>
          <p:cNvPr id="46" name="Connector 45"/>
          <p:cNvCxnSpPr/>
          <p:nvPr/>
        </p:nvCxnSpPr>
        <p:spPr>
          <a:xfrm>
            <a:off x="7452360" y="2048256"/>
            <a:ext cx="3200400" cy="0"/>
          </a:xfrm>
          <a:prstGeom prst="line">
            <a:avLst/>
          </a:prstGeom>
          <a:ln w="19050">
            <a:solidFill>
              <a:srgbClr val="B03A1A"/>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698480" y="1929384"/>
            <a:ext cx="1371600" cy="274320"/>
          </a:xfrm>
          <a:prstGeom prst="rect">
            <a:avLst/>
          </a:prstGeom>
          <a:noFill/>
        </p:spPr>
        <p:txBody>
          <a:bodyPr wrap="square">
            <a:spAutoFit/>
          </a:bodyPr>
          <a:lstStyle/>
          <a:p>
            <a:pPr algn="l"/>
            <a:r>
              <a:rPr sz="1000" b="1">
                <a:solidFill>
                  <a:srgbClr val="B03A1A"/>
                </a:solidFill>
                <a:latin typeface="Calibri"/>
              </a:rPr>
              <a:t>π_thr = 0.8</a:t>
            </a:r>
          </a:p>
        </p:txBody>
      </p:sp>
      <p:sp>
        <p:nvSpPr>
          <p:cNvPr id="48" name="TextBox 47"/>
          <p:cNvSpPr txBox="1"/>
          <p:nvPr/>
        </p:nvSpPr>
        <p:spPr>
          <a:xfrm>
            <a:off x="7360920" y="4160520"/>
            <a:ext cx="4206240" cy="365760"/>
          </a:xfrm>
          <a:prstGeom prst="rect">
            <a:avLst/>
          </a:prstGeom>
          <a:noFill/>
        </p:spPr>
        <p:txBody>
          <a:bodyPr wrap="square">
            <a:spAutoFit/>
          </a:bodyPr>
          <a:lstStyle/>
          <a:p>
            <a:pPr algn="l"/>
            <a:r>
              <a:rPr sz="1000" b="0">
                <a:solidFill>
                  <a:srgbClr val="666672"/>
                </a:solidFill>
                <a:latin typeface="Calibri"/>
              </a:rPr>
              <a:t>π_j  =  (half-fits that picked clause j)  /  2B</a:t>
            </a:r>
          </a:p>
        </p:txBody>
      </p:sp>
      <p:sp>
        <p:nvSpPr>
          <p:cNvPr id="49" name="Rounded Rectangle 48"/>
          <p:cNvSpPr/>
          <p:nvPr/>
        </p:nvSpPr>
        <p:spPr>
          <a:xfrm>
            <a:off x="1280160" y="5394960"/>
            <a:ext cx="9601200" cy="77724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A1A2E"/>
                </a:solidFill>
                <a:latin typeface="Calibri"/>
              </a:rPr>
              <a:t>Signature of a family = every clause with  π_j ≥ 0.8   (green bars). One lucky fit can't get 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
            <a:ext cx="11155680" cy="841248"/>
          </a:xfrm>
          <a:prstGeom prst="rect">
            <a:avLst/>
          </a:prstGeom>
          <a:noFill/>
        </p:spPr>
        <p:txBody>
          <a:bodyPr wrap="square">
            <a:spAutoFit/>
          </a:bodyPr>
          <a:lstStyle/>
          <a:p>
            <a:r>
              <a:rPr sz="1100" b="1">
                <a:solidFill>
                  <a:srgbClr val="CFDDF2"/>
                </a:solidFill>
                <a:latin typeface="Calibri"/>
              </a:rPr>
              <a:t>STEP 3 OF 4</a:t>
            </a:r>
          </a:p>
          <a:p>
            <a:r>
              <a:rPr sz="2200" b="1">
                <a:solidFill>
                  <a:srgbClr val="FFFFFF"/>
                </a:solidFill>
                <a:latin typeface="Calibri"/>
              </a:rPr>
              <a:t>Sign split - evidence FOR vs. evidence AGAINST</a:t>
            </a:r>
          </a:p>
        </p:txBody>
      </p:sp>
      <p:sp>
        <p:nvSpPr>
          <p:cNvPr id="4" name="TextBox 3"/>
          <p:cNvSpPr txBox="1"/>
          <p:nvPr/>
        </p:nvSpPr>
        <p:spPr>
          <a:xfrm>
            <a:off x="640080" y="1280160"/>
            <a:ext cx="3657600" cy="365760"/>
          </a:xfrm>
          <a:prstGeom prst="rect">
            <a:avLst/>
          </a:prstGeom>
          <a:noFill/>
        </p:spPr>
        <p:txBody>
          <a:bodyPr wrap="square">
            <a:spAutoFit/>
          </a:bodyPr>
          <a:lstStyle/>
          <a:p>
            <a:pPr algn="l"/>
            <a:r>
              <a:rPr sz="1200" b="1">
                <a:solidFill>
                  <a:srgbClr val="1B4F9C"/>
                </a:solidFill>
                <a:latin typeface="Calibri"/>
              </a:rPr>
              <a:t>kept clauses (DDoS)</a:t>
            </a:r>
          </a:p>
        </p:txBody>
      </p:sp>
      <p:sp>
        <p:nvSpPr>
          <p:cNvPr id="5" name="Rounded Rectangle 4"/>
          <p:cNvSpPr/>
          <p:nvPr/>
        </p:nvSpPr>
        <p:spPr>
          <a:xfrm>
            <a:off x="640080" y="1691640"/>
            <a:ext cx="2286000" cy="420624"/>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c1  Rate≥bin4</a:t>
            </a:r>
          </a:p>
        </p:txBody>
      </p:sp>
      <p:sp>
        <p:nvSpPr>
          <p:cNvPr id="6" name="Rounded Rectangle 5"/>
          <p:cNvSpPr/>
          <p:nvPr/>
        </p:nvSpPr>
        <p:spPr>
          <a:xfrm>
            <a:off x="640080" y="2240280"/>
            <a:ext cx="2286000" cy="420624"/>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c3  SYN set</a:t>
            </a:r>
          </a:p>
        </p:txBody>
      </p:sp>
      <p:sp>
        <p:nvSpPr>
          <p:cNvPr id="7" name="Rounded Rectangle 6"/>
          <p:cNvSpPr/>
          <p:nvPr/>
        </p:nvSpPr>
        <p:spPr>
          <a:xfrm>
            <a:off x="640080" y="2788920"/>
            <a:ext cx="2286000" cy="420624"/>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c8  many dst</a:t>
            </a:r>
          </a:p>
        </p:txBody>
      </p:sp>
      <p:sp>
        <p:nvSpPr>
          <p:cNvPr id="8" name="Rounded Rectangle 7"/>
          <p:cNvSpPr/>
          <p:nvPr/>
        </p:nvSpPr>
        <p:spPr>
          <a:xfrm>
            <a:off x="640080" y="3337560"/>
            <a:ext cx="2286000" cy="420624"/>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c4  idle gaps</a:t>
            </a:r>
          </a:p>
        </p:txBody>
      </p:sp>
      <p:sp>
        <p:nvSpPr>
          <p:cNvPr id="9" name="Rounded Rectangle 8"/>
          <p:cNvSpPr/>
          <p:nvPr/>
        </p:nvSpPr>
        <p:spPr>
          <a:xfrm>
            <a:off x="640080" y="3886200"/>
            <a:ext cx="2286000" cy="420624"/>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c9  short pkts</a:t>
            </a:r>
          </a:p>
        </p:txBody>
      </p:sp>
      <p:cxnSp>
        <p:nvCxnSpPr>
          <p:cNvPr id="10" name="Connector 9"/>
          <p:cNvCxnSpPr/>
          <p:nvPr/>
        </p:nvCxnSpPr>
        <p:spPr>
          <a:xfrm flipV="1">
            <a:off x="3108960" y="1371600"/>
            <a:ext cx="1463040" cy="640080"/>
          </a:xfrm>
          <a:prstGeom prst="line">
            <a:avLst/>
          </a:prstGeom>
          <a:ln w="31750">
            <a:solidFill>
              <a:srgbClr val="1E7A3C"/>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08960" y="3383280"/>
            <a:ext cx="1463040" cy="914400"/>
          </a:xfrm>
          <a:prstGeom prst="line">
            <a:avLst/>
          </a:prstGeom>
          <a:ln w="31750">
            <a:solidFill>
              <a:srgbClr val="B03A1A"/>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663440" y="914400"/>
            <a:ext cx="6766560" cy="228600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1A1A2E"/>
                </a:solidFill>
                <a:latin typeface="Calibri"/>
              </a:rPr>
              <a:t/>
            </a:r>
          </a:p>
        </p:txBody>
      </p:sp>
      <p:sp>
        <p:nvSpPr>
          <p:cNvPr id="13" name="TextBox 12"/>
          <p:cNvSpPr txBox="1"/>
          <p:nvPr/>
        </p:nvSpPr>
        <p:spPr>
          <a:xfrm>
            <a:off x="4800600" y="987552"/>
            <a:ext cx="6492240" cy="365760"/>
          </a:xfrm>
          <a:prstGeom prst="rect">
            <a:avLst/>
          </a:prstGeom>
          <a:noFill/>
        </p:spPr>
        <p:txBody>
          <a:bodyPr wrap="square">
            <a:spAutoFit/>
          </a:bodyPr>
          <a:lstStyle/>
          <a:p>
            <a:pPr algn="l"/>
            <a:r>
              <a:rPr sz="1300" b="1">
                <a:solidFill>
                  <a:srgbClr val="1E7A3C"/>
                </a:solidFill>
                <a:latin typeface="Calibri"/>
              </a:rPr>
              <a:t>S+   evidence FOR DDoS   (mean weight &gt; 0)</a:t>
            </a:r>
          </a:p>
        </p:txBody>
      </p:sp>
      <p:sp>
        <p:nvSpPr>
          <p:cNvPr id="14" name="Rounded Rectangle 13"/>
          <p:cNvSpPr/>
          <p:nvPr/>
        </p:nvSpPr>
        <p:spPr>
          <a:xfrm>
            <a:off x="4846320" y="1554480"/>
            <a:ext cx="2103120" cy="45720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c1  Rate≥bin4  +2.1</a:t>
            </a:r>
          </a:p>
        </p:txBody>
      </p:sp>
      <p:sp>
        <p:nvSpPr>
          <p:cNvPr id="15" name="Rounded Rectangle 14"/>
          <p:cNvSpPr/>
          <p:nvPr/>
        </p:nvSpPr>
        <p:spPr>
          <a:xfrm>
            <a:off x="7040879" y="1554480"/>
            <a:ext cx="2103120" cy="45720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c3  SYN set  +1.7</a:t>
            </a:r>
          </a:p>
        </p:txBody>
      </p:sp>
      <p:sp>
        <p:nvSpPr>
          <p:cNvPr id="16" name="Rounded Rectangle 15"/>
          <p:cNvSpPr/>
          <p:nvPr/>
        </p:nvSpPr>
        <p:spPr>
          <a:xfrm>
            <a:off x="9235440" y="1554480"/>
            <a:ext cx="2103120" cy="45720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c8  many dst  +0.9</a:t>
            </a:r>
          </a:p>
        </p:txBody>
      </p:sp>
      <p:sp>
        <p:nvSpPr>
          <p:cNvPr id="17" name="TextBox 16"/>
          <p:cNvSpPr txBox="1"/>
          <p:nvPr/>
        </p:nvSpPr>
        <p:spPr>
          <a:xfrm>
            <a:off x="4846320" y="2194560"/>
            <a:ext cx="6400800" cy="822960"/>
          </a:xfrm>
          <a:prstGeom prst="rect">
            <a:avLst/>
          </a:prstGeom>
          <a:noFill/>
        </p:spPr>
        <p:txBody>
          <a:bodyPr wrap="square">
            <a:spAutoFit/>
          </a:bodyPr>
          <a:lstStyle/>
          <a:p>
            <a:pPr algn="l"/>
            <a:r>
              <a:rPr sz="1100" b="0">
                <a:solidFill>
                  <a:srgbClr val="1E7A3C"/>
                </a:solidFill>
                <a:latin typeface="Calibri"/>
              </a:rPr>
              <a:t>a flow triggering these looks like DDoS</a:t>
            </a:r>
          </a:p>
        </p:txBody>
      </p:sp>
      <p:sp>
        <p:nvSpPr>
          <p:cNvPr id="18" name="Rounded Rectangle 17"/>
          <p:cNvSpPr/>
          <p:nvPr/>
        </p:nvSpPr>
        <p:spPr>
          <a:xfrm>
            <a:off x="4663440" y="3657600"/>
            <a:ext cx="6766560" cy="2103120"/>
          </a:xfrm>
          <a:prstGeom prst="roundRect">
            <a:avLst/>
          </a:prstGeom>
          <a:solidFill>
            <a:srgbClr val="F3DDD5"/>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1A1A2E"/>
                </a:solidFill>
                <a:latin typeface="Calibri"/>
              </a:rPr>
              <a:t/>
            </a:r>
          </a:p>
        </p:txBody>
      </p:sp>
      <p:sp>
        <p:nvSpPr>
          <p:cNvPr id="19" name="TextBox 18"/>
          <p:cNvSpPr txBox="1"/>
          <p:nvPr/>
        </p:nvSpPr>
        <p:spPr>
          <a:xfrm>
            <a:off x="4800600" y="3730752"/>
            <a:ext cx="6492240" cy="365760"/>
          </a:xfrm>
          <a:prstGeom prst="rect">
            <a:avLst/>
          </a:prstGeom>
          <a:noFill/>
        </p:spPr>
        <p:txBody>
          <a:bodyPr wrap="square">
            <a:spAutoFit/>
          </a:bodyPr>
          <a:lstStyle/>
          <a:p>
            <a:pPr algn="l"/>
            <a:r>
              <a:rPr sz="1300" b="1">
                <a:solidFill>
                  <a:srgbClr val="B03A1A"/>
                </a:solidFill>
                <a:latin typeface="Calibri"/>
              </a:rPr>
              <a:t>S-   evidence AGAINST DDoS   (mean weight &lt; 0)</a:t>
            </a:r>
          </a:p>
        </p:txBody>
      </p:sp>
      <p:sp>
        <p:nvSpPr>
          <p:cNvPr id="20" name="Rounded Rectangle 19"/>
          <p:cNvSpPr/>
          <p:nvPr/>
        </p:nvSpPr>
        <p:spPr>
          <a:xfrm>
            <a:off x="4846320" y="4297680"/>
            <a:ext cx="2194560" cy="457200"/>
          </a:xfrm>
          <a:prstGeom prst="roundRect">
            <a:avLst/>
          </a:prstGeom>
          <a:solidFill>
            <a:srgbClr val="F3DDD5"/>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c4  idle gaps  -1.4</a:t>
            </a:r>
          </a:p>
        </p:txBody>
      </p:sp>
      <p:sp>
        <p:nvSpPr>
          <p:cNvPr id="21" name="Rounded Rectangle 20"/>
          <p:cNvSpPr/>
          <p:nvPr/>
        </p:nvSpPr>
        <p:spPr>
          <a:xfrm>
            <a:off x="7223760" y="4297680"/>
            <a:ext cx="2194560" cy="457200"/>
          </a:xfrm>
          <a:prstGeom prst="roundRect">
            <a:avLst/>
          </a:prstGeom>
          <a:solidFill>
            <a:srgbClr val="F3DDD5"/>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c9  short pkts  -0.8</a:t>
            </a:r>
          </a:p>
        </p:txBody>
      </p:sp>
      <p:sp>
        <p:nvSpPr>
          <p:cNvPr id="22" name="TextBox 21"/>
          <p:cNvSpPr txBox="1"/>
          <p:nvPr/>
        </p:nvSpPr>
        <p:spPr>
          <a:xfrm>
            <a:off x="4846320" y="4937760"/>
            <a:ext cx="6400800" cy="731520"/>
          </a:xfrm>
          <a:prstGeom prst="rect">
            <a:avLst/>
          </a:prstGeom>
          <a:noFill/>
        </p:spPr>
        <p:txBody>
          <a:bodyPr wrap="square">
            <a:spAutoFit/>
          </a:bodyPr>
          <a:lstStyle/>
          <a:p>
            <a:pPr algn="l"/>
            <a:r>
              <a:rPr sz="1100" b="0">
                <a:solidFill>
                  <a:srgbClr val="B03A1A"/>
                </a:solidFill>
                <a:latin typeface="Calibri"/>
              </a:rPr>
              <a:t>these are benign habits - firing them argues DDoS is NOT the answer</a:t>
            </a:r>
          </a:p>
        </p:txBody>
      </p:sp>
      <p:sp>
        <p:nvSpPr>
          <p:cNvPr id="23" name="TextBox 22"/>
          <p:cNvSpPr txBox="1"/>
          <p:nvPr/>
        </p:nvSpPr>
        <p:spPr>
          <a:xfrm>
            <a:off x="640080" y="5989320"/>
            <a:ext cx="10881360" cy="548640"/>
          </a:xfrm>
          <a:prstGeom prst="rect">
            <a:avLst/>
          </a:prstGeom>
          <a:noFill/>
        </p:spPr>
        <p:txBody>
          <a:bodyPr wrap="square">
            <a:spAutoFit/>
          </a:bodyPr>
          <a:lstStyle/>
          <a:p>
            <a:pPr algn="l"/>
            <a:r>
              <a:rPr sz="1200" b="0">
                <a:solidFill>
                  <a:srgbClr val="666672"/>
                </a:solidFill>
                <a:latin typeface="Calibri"/>
              </a:rPr>
              <a:t>Why: stability selection picks useful clauses in BOTH directions. Ignoring the sign scored 0.004 F1 - below random.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
            <a:ext cx="11155680" cy="841248"/>
          </a:xfrm>
          <a:prstGeom prst="rect">
            <a:avLst/>
          </a:prstGeom>
          <a:noFill/>
        </p:spPr>
        <p:txBody>
          <a:bodyPr wrap="square">
            <a:spAutoFit/>
          </a:bodyPr>
          <a:lstStyle/>
          <a:p>
            <a:r>
              <a:rPr sz="1100" b="1">
                <a:solidFill>
                  <a:srgbClr val="CFDDF2"/>
                </a:solidFill>
                <a:latin typeface="Calibri"/>
              </a:rPr>
              <a:t>STEP 4 OF 4</a:t>
            </a:r>
          </a:p>
          <a:p>
            <a:r>
              <a:rPr sz="2200" b="1">
                <a:solidFill>
                  <a:srgbClr val="FFFFFF"/>
                </a:solidFill>
                <a:latin typeface="Calibri"/>
              </a:rPr>
              <a:t>Attribution score - which family does a new flow match?</a:t>
            </a:r>
          </a:p>
        </p:txBody>
      </p:sp>
      <p:sp>
        <p:nvSpPr>
          <p:cNvPr id="4" name="Rounded Rectangle 3"/>
          <p:cNvSpPr/>
          <p:nvPr/>
        </p:nvSpPr>
        <p:spPr>
          <a:xfrm>
            <a:off x="548640" y="2743200"/>
            <a:ext cx="1463040" cy="914400"/>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a:solidFill>
                  <a:srgbClr val="1A1A2E"/>
                </a:solidFill>
                <a:latin typeface="Calibri"/>
              </a:rPr>
              <a:t>new</a:t>
            </a:r>
          </a:p>
          <a:p>
            <a:pPr algn="ctr"/>
            <a:r>
              <a:rPr sz="1200" b="1">
                <a:solidFill>
                  <a:srgbClr val="1A1A2E"/>
                </a:solidFill>
                <a:latin typeface="Calibri"/>
              </a:rPr>
              <a:t>flow x</a:t>
            </a:r>
          </a:p>
        </p:txBody>
      </p:sp>
      <p:cxnSp>
        <p:nvCxnSpPr>
          <p:cNvPr id="5" name="Connector 4"/>
          <p:cNvCxnSpPr/>
          <p:nvPr/>
        </p:nvCxnSpPr>
        <p:spPr>
          <a:xfrm>
            <a:off x="2057400" y="3200400"/>
            <a:ext cx="685800"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788920" y="1554480"/>
            <a:ext cx="4114800" cy="3291840"/>
          </a:xfrm>
          <a:prstGeom prst="roundRect">
            <a:avLst/>
          </a:prstGeom>
          <a:solidFill>
            <a:srgbClr val="F5F7FA"/>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a:solidFill>
                  <a:srgbClr val="1A1A2E"/>
                </a:solidFill>
                <a:latin typeface="Calibri"/>
              </a:rPr>
              <a:t/>
            </a:r>
          </a:p>
        </p:txBody>
      </p:sp>
      <p:sp>
        <p:nvSpPr>
          <p:cNvPr id="7" name="TextBox 6"/>
          <p:cNvSpPr txBox="1"/>
          <p:nvPr/>
        </p:nvSpPr>
        <p:spPr>
          <a:xfrm>
            <a:off x="2834640" y="1627632"/>
            <a:ext cx="4023360" cy="320040"/>
          </a:xfrm>
          <a:prstGeom prst="rect">
            <a:avLst/>
          </a:prstGeom>
          <a:noFill/>
        </p:spPr>
        <p:txBody>
          <a:bodyPr wrap="square">
            <a:spAutoFit/>
          </a:bodyPr>
          <a:lstStyle/>
          <a:p>
            <a:pPr algn="ctr"/>
            <a:r>
              <a:rPr sz="1100" b="1">
                <a:solidFill>
                  <a:srgbClr val="1B4F9C"/>
                </a:solidFill>
                <a:latin typeface="Calibri"/>
              </a:rPr>
              <a:t>clauses of family L that fire on x</a:t>
            </a:r>
          </a:p>
        </p:txBody>
      </p:sp>
      <p:sp>
        <p:nvSpPr>
          <p:cNvPr id="8" name="Rounded Rectangle 7"/>
          <p:cNvSpPr/>
          <p:nvPr/>
        </p:nvSpPr>
        <p:spPr>
          <a:xfrm>
            <a:off x="3063240" y="2103120"/>
            <a:ext cx="1783080" cy="41148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S+  c1  +0.97</a:t>
            </a:r>
          </a:p>
        </p:txBody>
      </p:sp>
      <p:sp>
        <p:nvSpPr>
          <p:cNvPr id="9" name="Rounded Rectangle 8"/>
          <p:cNvSpPr/>
          <p:nvPr/>
        </p:nvSpPr>
        <p:spPr>
          <a:xfrm>
            <a:off x="4983480" y="2103120"/>
            <a:ext cx="1783080" cy="41148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S+  c3  +0.90</a:t>
            </a:r>
          </a:p>
        </p:txBody>
      </p:sp>
      <p:sp>
        <p:nvSpPr>
          <p:cNvPr id="10" name="Rounded Rectangle 9"/>
          <p:cNvSpPr/>
          <p:nvPr/>
        </p:nvSpPr>
        <p:spPr>
          <a:xfrm>
            <a:off x="3063240" y="2743200"/>
            <a:ext cx="1783080" cy="41148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S+  c8  +0.85</a:t>
            </a:r>
          </a:p>
        </p:txBody>
      </p:sp>
      <p:sp>
        <p:nvSpPr>
          <p:cNvPr id="11" name="Rounded Rectangle 10"/>
          <p:cNvSpPr/>
          <p:nvPr/>
        </p:nvSpPr>
        <p:spPr>
          <a:xfrm>
            <a:off x="4983480" y="2743200"/>
            <a:ext cx="1783080" cy="411480"/>
          </a:xfrm>
          <a:prstGeom prst="roundRect">
            <a:avLst/>
          </a:prstGeom>
          <a:solidFill>
            <a:srgbClr val="F3DDD5"/>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S-  c4  -0.87</a:t>
            </a:r>
          </a:p>
        </p:txBody>
      </p:sp>
      <p:sp>
        <p:nvSpPr>
          <p:cNvPr id="12" name="Rounded Rectangle 11"/>
          <p:cNvSpPr/>
          <p:nvPr/>
        </p:nvSpPr>
        <p:spPr>
          <a:xfrm>
            <a:off x="2971800" y="3566160"/>
            <a:ext cx="3749039" cy="1097280"/>
          </a:xfrm>
          <a:prstGeom prst="roundRect">
            <a:avLst/>
          </a:prstGeom>
          <a:solidFill>
            <a:srgbClr val="FFFFFF"/>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A1A2E"/>
                </a:solidFill>
                <a:latin typeface="Calibri"/>
              </a:rPr>
              <a:t>(Σ S+ fired  -  Σ S- fired)</a:t>
            </a:r>
          </a:p>
          <a:p>
            <a:pPr algn="ctr"/>
            <a:r>
              <a:rPr sz="1200" b="1">
                <a:solidFill>
                  <a:srgbClr val="1A1A2E"/>
                </a:solidFill>
                <a:latin typeface="Calibri"/>
              </a:rPr>
              <a:t>÷  Σ all S+ weight</a:t>
            </a:r>
          </a:p>
        </p:txBody>
      </p:sp>
      <p:cxnSp>
        <p:nvCxnSpPr>
          <p:cNvPr id="13" name="Connector 12"/>
          <p:cNvCxnSpPr/>
          <p:nvPr/>
        </p:nvCxnSpPr>
        <p:spPr>
          <a:xfrm>
            <a:off x="6995160" y="3200400"/>
            <a:ext cx="777240"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55279" y="4572000"/>
            <a:ext cx="3291840" cy="0"/>
          </a:xfrm>
          <a:prstGeom prst="line">
            <a:avLst/>
          </a:prstGeom>
          <a:ln w="12700">
            <a:solidFill>
              <a:srgbClr val="666672"/>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065007" y="3546043"/>
            <a:ext cx="329184" cy="1025956"/>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82127" y="3253435"/>
            <a:ext cx="694944" cy="274320"/>
          </a:xfrm>
          <a:prstGeom prst="rect">
            <a:avLst/>
          </a:prstGeom>
          <a:noFill/>
        </p:spPr>
        <p:txBody>
          <a:bodyPr wrap="square">
            <a:spAutoFit/>
          </a:bodyPr>
          <a:lstStyle/>
          <a:p>
            <a:pPr algn="ctr"/>
            <a:r>
              <a:rPr sz="1000" b="1">
                <a:solidFill>
                  <a:srgbClr val="1A1A2E"/>
                </a:solidFill>
                <a:latin typeface="Calibri"/>
              </a:rPr>
              <a:t>0.34</a:t>
            </a:r>
          </a:p>
        </p:txBody>
      </p:sp>
      <p:sp>
        <p:nvSpPr>
          <p:cNvPr id="17" name="TextBox 16"/>
          <p:cNvSpPr txBox="1"/>
          <p:nvPr/>
        </p:nvSpPr>
        <p:spPr>
          <a:xfrm>
            <a:off x="7955279" y="4626864"/>
            <a:ext cx="548640" cy="365760"/>
          </a:xfrm>
          <a:prstGeom prst="rect">
            <a:avLst/>
          </a:prstGeom>
          <a:noFill/>
        </p:spPr>
        <p:txBody>
          <a:bodyPr wrap="square">
            <a:spAutoFit/>
          </a:bodyPr>
          <a:lstStyle/>
          <a:p>
            <a:pPr algn="ctr"/>
            <a:r>
              <a:rPr sz="1000" b="0">
                <a:solidFill>
                  <a:srgbClr val="666672"/>
                </a:solidFill>
                <a:latin typeface="Calibri"/>
              </a:rPr>
              <a:t>Ben</a:t>
            </a:r>
          </a:p>
        </p:txBody>
      </p:sp>
      <p:sp>
        <p:nvSpPr>
          <p:cNvPr id="18" name="Rectangle 17"/>
          <p:cNvSpPr/>
          <p:nvPr/>
        </p:nvSpPr>
        <p:spPr>
          <a:xfrm>
            <a:off x="8613647" y="1826056"/>
            <a:ext cx="329184" cy="2745943"/>
          </a:xfrm>
          <a:prstGeom prst="rect">
            <a:avLst/>
          </a:prstGeom>
          <a:solidFill>
            <a:srgbClr val="B03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0767" y="1533448"/>
            <a:ext cx="694944" cy="274320"/>
          </a:xfrm>
          <a:prstGeom prst="rect">
            <a:avLst/>
          </a:prstGeom>
          <a:noFill/>
        </p:spPr>
        <p:txBody>
          <a:bodyPr wrap="square">
            <a:spAutoFit/>
          </a:bodyPr>
          <a:lstStyle/>
          <a:p>
            <a:pPr algn="ctr"/>
            <a:r>
              <a:rPr sz="1000" b="1">
                <a:solidFill>
                  <a:srgbClr val="1A1A2E"/>
                </a:solidFill>
                <a:latin typeface="Calibri"/>
              </a:rPr>
              <a:t>0.91</a:t>
            </a:r>
          </a:p>
        </p:txBody>
      </p:sp>
      <p:sp>
        <p:nvSpPr>
          <p:cNvPr id="20" name="TextBox 19"/>
          <p:cNvSpPr txBox="1"/>
          <p:nvPr/>
        </p:nvSpPr>
        <p:spPr>
          <a:xfrm>
            <a:off x="8503919" y="4626864"/>
            <a:ext cx="548640" cy="365760"/>
          </a:xfrm>
          <a:prstGeom prst="rect">
            <a:avLst/>
          </a:prstGeom>
          <a:noFill/>
        </p:spPr>
        <p:txBody>
          <a:bodyPr wrap="square">
            <a:spAutoFit/>
          </a:bodyPr>
          <a:lstStyle/>
          <a:p>
            <a:pPr algn="ctr"/>
            <a:r>
              <a:rPr sz="1000" b="0">
                <a:solidFill>
                  <a:srgbClr val="666672"/>
                </a:solidFill>
                <a:latin typeface="Calibri"/>
              </a:rPr>
              <a:t>DDoS</a:t>
            </a:r>
          </a:p>
        </p:txBody>
      </p:sp>
      <p:sp>
        <p:nvSpPr>
          <p:cNvPr id="21" name="Rectangle 20"/>
          <p:cNvSpPr/>
          <p:nvPr/>
        </p:nvSpPr>
        <p:spPr>
          <a:xfrm>
            <a:off x="9162287" y="2912364"/>
            <a:ext cx="329184" cy="1659636"/>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79407" y="2619756"/>
            <a:ext cx="694944" cy="274320"/>
          </a:xfrm>
          <a:prstGeom prst="rect">
            <a:avLst/>
          </a:prstGeom>
          <a:noFill/>
        </p:spPr>
        <p:txBody>
          <a:bodyPr wrap="square">
            <a:spAutoFit/>
          </a:bodyPr>
          <a:lstStyle/>
          <a:p>
            <a:pPr algn="ctr"/>
            <a:r>
              <a:rPr sz="1000" b="1">
                <a:solidFill>
                  <a:srgbClr val="1A1A2E"/>
                </a:solidFill>
                <a:latin typeface="Calibri"/>
              </a:rPr>
              <a:t>0.55</a:t>
            </a:r>
          </a:p>
        </p:txBody>
      </p:sp>
      <p:sp>
        <p:nvSpPr>
          <p:cNvPr id="23" name="TextBox 22"/>
          <p:cNvSpPr txBox="1"/>
          <p:nvPr/>
        </p:nvSpPr>
        <p:spPr>
          <a:xfrm>
            <a:off x="9052559" y="4626864"/>
            <a:ext cx="548640" cy="365760"/>
          </a:xfrm>
          <a:prstGeom prst="rect">
            <a:avLst/>
          </a:prstGeom>
          <a:noFill/>
        </p:spPr>
        <p:txBody>
          <a:bodyPr wrap="square">
            <a:spAutoFit/>
          </a:bodyPr>
          <a:lstStyle/>
          <a:p>
            <a:pPr algn="ctr"/>
            <a:r>
              <a:rPr sz="1000" b="0">
                <a:solidFill>
                  <a:srgbClr val="666672"/>
                </a:solidFill>
                <a:latin typeface="Calibri"/>
              </a:rPr>
              <a:t>DoS</a:t>
            </a:r>
          </a:p>
        </p:txBody>
      </p:sp>
      <p:sp>
        <p:nvSpPr>
          <p:cNvPr id="24" name="Rectangle 23"/>
          <p:cNvSpPr/>
          <p:nvPr/>
        </p:nvSpPr>
        <p:spPr>
          <a:xfrm>
            <a:off x="9710928" y="3364991"/>
            <a:ext cx="329184" cy="1207008"/>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28048" y="3072384"/>
            <a:ext cx="694944" cy="274320"/>
          </a:xfrm>
          <a:prstGeom prst="rect">
            <a:avLst/>
          </a:prstGeom>
          <a:noFill/>
        </p:spPr>
        <p:txBody>
          <a:bodyPr wrap="square">
            <a:spAutoFit/>
          </a:bodyPr>
          <a:lstStyle/>
          <a:p>
            <a:pPr algn="ctr"/>
            <a:r>
              <a:rPr sz="1000" b="1">
                <a:solidFill>
                  <a:srgbClr val="1A1A2E"/>
                </a:solidFill>
                <a:latin typeface="Calibri"/>
              </a:rPr>
              <a:t>0.40</a:t>
            </a:r>
          </a:p>
        </p:txBody>
      </p:sp>
      <p:sp>
        <p:nvSpPr>
          <p:cNvPr id="26" name="TextBox 25"/>
          <p:cNvSpPr txBox="1"/>
          <p:nvPr/>
        </p:nvSpPr>
        <p:spPr>
          <a:xfrm>
            <a:off x="9601200" y="4626864"/>
            <a:ext cx="548640" cy="365760"/>
          </a:xfrm>
          <a:prstGeom prst="rect">
            <a:avLst/>
          </a:prstGeom>
          <a:noFill/>
        </p:spPr>
        <p:txBody>
          <a:bodyPr wrap="square">
            <a:spAutoFit/>
          </a:bodyPr>
          <a:lstStyle/>
          <a:p>
            <a:pPr algn="ctr"/>
            <a:r>
              <a:rPr sz="1000" b="0">
                <a:solidFill>
                  <a:srgbClr val="666672"/>
                </a:solidFill>
                <a:latin typeface="Calibri"/>
              </a:rPr>
              <a:t>MQTT</a:t>
            </a:r>
          </a:p>
        </p:txBody>
      </p:sp>
      <p:sp>
        <p:nvSpPr>
          <p:cNvPr id="27" name="Rectangle 26"/>
          <p:cNvSpPr/>
          <p:nvPr/>
        </p:nvSpPr>
        <p:spPr>
          <a:xfrm>
            <a:off x="10259567" y="2399385"/>
            <a:ext cx="329184" cy="2172614"/>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76688" y="2106777"/>
            <a:ext cx="694944" cy="274320"/>
          </a:xfrm>
          <a:prstGeom prst="rect">
            <a:avLst/>
          </a:prstGeom>
          <a:noFill/>
        </p:spPr>
        <p:txBody>
          <a:bodyPr wrap="square">
            <a:spAutoFit/>
          </a:bodyPr>
          <a:lstStyle/>
          <a:p>
            <a:pPr algn="ctr"/>
            <a:r>
              <a:rPr sz="1000" b="1">
                <a:solidFill>
                  <a:srgbClr val="1A1A2E"/>
                </a:solidFill>
                <a:latin typeface="Calibri"/>
              </a:rPr>
              <a:t>0.72</a:t>
            </a:r>
          </a:p>
        </p:txBody>
      </p:sp>
      <p:sp>
        <p:nvSpPr>
          <p:cNvPr id="29" name="TextBox 28"/>
          <p:cNvSpPr txBox="1"/>
          <p:nvPr/>
        </p:nvSpPr>
        <p:spPr>
          <a:xfrm>
            <a:off x="10149840" y="4626864"/>
            <a:ext cx="548640" cy="365760"/>
          </a:xfrm>
          <a:prstGeom prst="rect">
            <a:avLst/>
          </a:prstGeom>
          <a:noFill/>
        </p:spPr>
        <p:txBody>
          <a:bodyPr wrap="square">
            <a:spAutoFit/>
          </a:bodyPr>
          <a:lstStyle/>
          <a:p>
            <a:pPr algn="ctr"/>
            <a:r>
              <a:rPr sz="1000" b="0">
                <a:solidFill>
                  <a:srgbClr val="666672"/>
                </a:solidFill>
                <a:latin typeface="Calibri"/>
              </a:rPr>
              <a:t>Recon</a:t>
            </a:r>
          </a:p>
        </p:txBody>
      </p:sp>
      <p:sp>
        <p:nvSpPr>
          <p:cNvPr id="30" name="Rectangle 29"/>
          <p:cNvSpPr/>
          <p:nvPr/>
        </p:nvSpPr>
        <p:spPr>
          <a:xfrm>
            <a:off x="10808207" y="3727094"/>
            <a:ext cx="329184" cy="844905"/>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25328" y="3434486"/>
            <a:ext cx="694944" cy="274320"/>
          </a:xfrm>
          <a:prstGeom prst="rect">
            <a:avLst/>
          </a:prstGeom>
          <a:noFill/>
        </p:spPr>
        <p:txBody>
          <a:bodyPr wrap="square">
            <a:spAutoFit/>
          </a:bodyPr>
          <a:lstStyle/>
          <a:p>
            <a:pPr algn="ctr"/>
            <a:r>
              <a:rPr sz="1000" b="1">
                <a:solidFill>
                  <a:srgbClr val="1A1A2E"/>
                </a:solidFill>
                <a:latin typeface="Calibri"/>
              </a:rPr>
              <a:t>0.28</a:t>
            </a:r>
          </a:p>
        </p:txBody>
      </p:sp>
      <p:sp>
        <p:nvSpPr>
          <p:cNvPr id="32" name="TextBox 31"/>
          <p:cNvSpPr txBox="1"/>
          <p:nvPr/>
        </p:nvSpPr>
        <p:spPr>
          <a:xfrm>
            <a:off x="10698480" y="4626864"/>
            <a:ext cx="548640" cy="365760"/>
          </a:xfrm>
          <a:prstGeom prst="rect">
            <a:avLst/>
          </a:prstGeom>
          <a:noFill/>
        </p:spPr>
        <p:txBody>
          <a:bodyPr wrap="square">
            <a:spAutoFit/>
          </a:bodyPr>
          <a:lstStyle/>
          <a:p>
            <a:pPr algn="ctr"/>
            <a:r>
              <a:rPr sz="1000" b="0">
                <a:solidFill>
                  <a:srgbClr val="666672"/>
                </a:solidFill>
                <a:latin typeface="Calibri"/>
              </a:rPr>
              <a:t>Spf</a:t>
            </a:r>
          </a:p>
        </p:txBody>
      </p:sp>
      <p:sp>
        <p:nvSpPr>
          <p:cNvPr id="33" name="TextBox 32"/>
          <p:cNvSpPr txBox="1"/>
          <p:nvPr/>
        </p:nvSpPr>
        <p:spPr>
          <a:xfrm>
            <a:off x="7955279" y="4709160"/>
            <a:ext cx="3840480" cy="365760"/>
          </a:xfrm>
          <a:prstGeom prst="rect">
            <a:avLst/>
          </a:prstGeom>
          <a:noFill/>
        </p:spPr>
        <p:txBody>
          <a:bodyPr wrap="square">
            <a:spAutoFit/>
          </a:bodyPr>
          <a:lstStyle/>
          <a:p>
            <a:pPr algn="l"/>
            <a:r>
              <a:rPr sz="1100" b="1">
                <a:solidFill>
                  <a:srgbClr val="B03A1A"/>
                </a:solidFill>
                <a:latin typeface="Calibri"/>
              </a:rPr>
              <a:t>highest score  -&gt;  attributed family = DDoS</a:t>
            </a:r>
          </a:p>
        </p:txBody>
      </p:sp>
      <p:sp>
        <p:nvSpPr>
          <p:cNvPr id="34" name="TextBox 33"/>
          <p:cNvSpPr txBox="1"/>
          <p:nvPr/>
        </p:nvSpPr>
        <p:spPr>
          <a:xfrm>
            <a:off x="548640" y="5257800"/>
            <a:ext cx="11155680" cy="1280160"/>
          </a:xfrm>
          <a:prstGeom prst="rect">
            <a:avLst/>
          </a:prstGeom>
          <a:noFill/>
        </p:spPr>
        <p:txBody>
          <a:bodyPr wrap="square">
            <a:spAutoFit/>
          </a:bodyPr>
          <a:lstStyle/>
          <a:p>
            <a:pPr algn="l"/>
            <a:r>
              <a:rPr sz="1200" b="1">
                <a:solidFill>
                  <a:srgbClr val="1E7A3C"/>
                </a:solidFill>
                <a:latin typeface="Calibri"/>
              </a:rPr>
              <a:t>÷ by Σ S+ weight</a:t>
            </a:r>
            <a:r>
              <a:rPr sz="1200" b="0">
                <a:solidFill>
                  <a:srgbClr val="666672"/>
                </a:solidFill>
                <a:latin typeface="Calibri"/>
              </a:rPr>
              <a:t>  so a big signature gets no free advantage - the score is 'what fraction of possible evidence fired'.</a:t>
            </a:r>
          </a:p>
          <a:p>
            <a:pPr algn="l"/>
            <a:r>
              <a:rPr sz="1200" b="1">
                <a:solidFill>
                  <a:srgbClr val="1E7A3C"/>
                </a:solidFill>
                <a:latin typeface="Calibri"/>
              </a:rPr>
              <a:t>π as weight</a:t>
            </a:r>
            <a:r>
              <a:rPr sz="1200" b="0">
                <a:solidFill>
                  <a:srgbClr val="666672"/>
                </a:solidFill>
                <a:latin typeface="Calibri"/>
              </a:rPr>
              <a:t>  a clause kept in 97% of refits counts more than one kept in 80%  -  no new knob.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
            <a:ext cx="11155680" cy="841248"/>
          </a:xfrm>
          <a:prstGeom prst="rect">
            <a:avLst/>
          </a:prstGeom>
          <a:noFill/>
        </p:spPr>
        <p:txBody>
          <a:bodyPr wrap="square">
            <a:spAutoFit/>
          </a:bodyPr>
          <a:lstStyle/>
          <a:p>
            <a:r>
              <a:rPr sz="1100" b="1">
                <a:solidFill>
                  <a:srgbClr val="CFDDF2"/>
                </a:solidFill>
                <a:latin typeface="Calibri"/>
              </a:rPr>
              <a:t>PUTTING IT TOGETHER</a:t>
            </a:r>
          </a:p>
          <a:p>
            <a:r>
              <a:rPr sz="2200" b="1">
                <a:solidFill>
                  <a:srgbClr val="FFFFFF"/>
                </a:solidFill>
                <a:latin typeface="Calibri"/>
              </a:rPr>
              <a:t>Worked example - scoring two flows for DDoS</a:t>
            </a:r>
          </a:p>
        </p:txBody>
      </p:sp>
      <p:sp>
        <p:nvSpPr>
          <p:cNvPr id="4" name="TextBox 3"/>
          <p:cNvSpPr txBox="1"/>
          <p:nvPr/>
        </p:nvSpPr>
        <p:spPr>
          <a:xfrm>
            <a:off x="640080" y="1188720"/>
            <a:ext cx="10972800" cy="365760"/>
          </a:xfrm>
          <a:prstGeom prst="rect">
            <a:avLst/>
          </a:prstGeom>
          <a:noFill/>
        </p:spPr>
        <p:txBody>
          <a:bodyPr wrap="square">
            <a:spAutoFit/>
          </a:bodyPr>
          <a:lstStyle/>
          <a:p>
            <a:pPr algn="l"/>
            <a:r>
              <a:rPr sz="1300" b="1">
                <a:solidFill>
                  <a:srgbClr val="1A1A2E"/>
                </a:solidFill>
                <a:latin typeface="Calibri"/>
              </a:rPr>
              <a:t>DDoS signature:   </a:t>
            </a:r>
            <a:r>
              <a:rPr sz="1300" b="0">
                <a:solidFill>
                  <a:srgbClr val="666672"/>
                </a:solidFill>
                <a:latin typeface="Calibri"/>
              </a:rPr>
              <a:t>S+  c1 (0.97), c3 (0.90)      S-  c4 (0.87)      Σ S+ weight = 1.87</a:t>
            </a:r>
          </a:p>
        </p:txBody>
      </p:sp>
      <p:sp>
        <p:nvSpPr>
          <p:cNvPr id="5" name="Rounded Rectangle 4"/>
          <p:cNvSpPr/>
          <p:nvPr/>
        </p:nvSpPr>
        <p:spPr>
          <a:xfrm>
            <a:off x="640080" y="1828800"/>
            <a:ext cx="1828800" cy="1463040"/>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A1A2E"/>
                </a:solidFill>
                <a:latin typeface="Calibri"/>
              </a:rPr>
              <a:t>flow x</a:t>
            </a:r>
          </a:p>
          <a:p>
            <a:pPr algn="ctr"/>
            <a:r>
              <a:rPr sz="1100" b="0">
                <a:solidFill>
                  <a:srgbClr val="1A1A2E"/>
                </a:solidFill>
                <a:latin typeface="Calibri"/>
              </a:rPr>
              <a:t>fires c1, c3</a:t>
            </a:r>
          </a:p>
          <a:p>
            <a:pPr algn="ctr"/>
            <a:r>
              <a:rPr sz="1100" b="0">
                <a:solidFill>
                  <a:srgbClr val="1A1A2E"/>
                </a:solidFill>
                <a:latin typeface="Calibri"/>
              </a:rPr>
              <a:t>not c4</a:t>
            </a:r>
          </a:p>
        </p:txBody>
      </p:sp>
      <p:cxnSp>
        <p:nvCxnSpPr>
          <p:cNvPr id="6" name="Connector 5"/>
          <p:cNvCxnSpPr/>
          <p:nvPr/>
        </p:nvCxnSpPr>
        <p:spPr>
          <a:xfrm>
            <a:off x="2560320" y="2560320"/>
            <a:ext cx="640080"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91840" y="2148840"/>
            <a:ext cx="1463040" cy="41148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c1  +0.97</a:t>
            </a:r>
          </a:p>
        </p:txBody>
      </p:sp>
      <p:sp>
        <p:nvSpPr>
          <p:cNvPr id="8" name="Rounded Rectangle 7"/>
          <p:cNvSpPr/>
          <p:nvPr/>
        </p:nvSpPr>
        <p:spPr>
          <a:xfrm>
            <a:off x="3291840" y="2697480"/>
            <a:ext cx="1463040" cy="41148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c3  +0.90</a:t>
            </a:r>
          </a:p>
        </p:txBody>
      </p:sp>
      <p:cxnSp>
        <p:nvCxnSpPr>
          <p:cNvPr id="9" name="Connector 8"/>
          <p:cNvCxnSpPr/>
          <p:nvPr/>
        </p:nvCxnSpPr>
        <p:spPr>
          <a:xfrm>
            <a:off x="4892040" y="2560320"/>
            <a:ext cx="685800"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669280" y="2148840"/>
            <a:ext cx="3200400" cy="868680"/>
          </a:xfrm>
          <a:prstGeom prst="roundRect">
            <a:avLst/>
          </a:prstGeom>
          <a:solidFill>
            <a:srgbClr val="FFFFFF"/>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A1A2E"/>
                </a:solidFill>
                <a:latin typeface="Calibri"/>
              </a:rPr>
              <a:t>(0.97 + 0.90 − 0) / 1.87</a:t>
            </a:r>
          </a:p>
        </p:txBody>
      </p:sp>
      <p:cxnSp>
        <p:nvCxnSpPr>
          <p:cNvPr id="11" name="Connector 10"/>
          <p:cNvCxnSpPr/>
          <p:nvPr/>
        </p:nvCxnSpPr>
        <p:spPr>
          <a:xfrm>
            <a:off x="8961120" y="2560320"/>
            <a:ext cx="548640" cy="0"/>
          </a:xfrm>
          <a:prstGeom prst="line">
            <a:avLst/>
          </a:prstGeom>
          <a:ln w="38100">
            <a:solidFill>
              <a:srgbClr val="1E7A3C"/>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601200" y="2103120"/>
            <a:ext cx="2011680" cy="91440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E7A3C"/>
                </a:solidFill>
                <a:latin typeface="Calibri"/>
              </a:rPr>
              <a:t>= 1.00</a:t>
            </a:r>
          </a:p>
          <a:p>
            <a:pPr algn="ctr"/>
            <a:r>
              <a:rPr sz="1000" b="0">
                <a:solidFill>
                  <a:srgbClr val="1E7A3C"/>
                </a:solidFill>
                <a:latin typeface="Calibri"/>
              </a:rPr>
              <a:t>strong match</a:t>
            </a:r>
          </a:p>
        </p:txBody>
      </p:sp>
      <p:sp>
        <p:nvSpPr>
          <p:cNvPr id="13" name="Rounded Rectangle 12"/>
          <p:cNvSpPr/>
          <p:nvPr/>
        </p:nvSpPr>
        <p:spPr>
          <a:xfrm>
            <a:off x="640080" y="3840480"/>
            <a:ext cx="1828800" cy="1371600"/>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A1A2E"/>
                </a:solidFill>
                <a:latin typeface="Calibri"/>
              </a:rPr>
              <a:t>flow y</a:t>
            </a:r>
          </a:p>
          <a:p>
            <a:pPr algn="ctr"/>
            <a:r>
              <a:rPr sz="1100" b="0">
                <a:solidFill>
                  <a:srgbClr val="1A1A2E"/>
                </a:solidFill>
                <a:latin typeface="Calibri"/>
              </a:rPr>
              <a:t>fires c4 only</a:t>
            </a:r>
          </a:p>
        </p:txBody>
      </p:sp>
      <p:cxnSp>
        <p:nvCxnSpPr>
          <p:cNvPr id="14" name="Connector 13"/>
          <p:cNvCxnSpPr/>
          <p:nvPr/>
        </p:nvCxnSpPr>
        <p:spPr>
          <a:xfrm>
            <a:off x="2560320" y="4526280"/>
            <a:ext cx="640080"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91840" y="4297680"/>
            <a:ext cx="1463040" cy="411480"/>
          </a:xfrm>
          <a:prstGeom prst="roundRect">
            <a:avLst/>
          </a:prstGeom>
          <a:solidFill>
            <a:srgbClr val="F3DDD5"/>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a:solidFill>
                  <a:srgbClr val="1A1A2E"/>
                </a:solidFill>
                <a:latin typeface="Calibri"/>
              </a:rPr>
              <a:t>c4  −0.87</a:t>
            </a:r>
          </a:p>
        </p:txBody>
      </p:sp>
      <p:cxnSp>
        <p:nvCxnSpPr>
          <p:cNvPr id="16" name="Connector 15"/>
          <p:cNvCxnSpPr/>
          <p:nvPr/>
        </p:nvCxnSpPr>
        <p:spPr>
          <a:xfrm>
            <a:off x="4892040" y="4526280"/>
            <a:ext cx="685800" cy="0"/>
          </a:xfrm>
          <a:prstGeom prst="line">
            <a:avLst/>
          </a:prstGeom>
          <a:ln w="31750">
            <a:solidFill>
              <a:srgbClr val="666672"/>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669280" y="4114800"/>
            <a:ext cx="3200400" cy="868680"/>
          </a:xfrm>
          <a:prstGeom prst="roundRect">
            <a:avLst/>
          </a:prstGeom>
          <a:solidFill>
            <a:srgbClr val="FFFFFF"/>
          </a:solidFill>
          <a:ln w="15875">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1A1A2E"/>
                </a:solidFill>
                <a:latin typeface="Calibri"/>
              </a:rPr>
              <a:t>(0 − 0.87) / 1.87</a:t>
            </a:r>
          </a:p>
        </p:txBody>
      </p:sp>
      <p:cxnSp>
        <p:nvCxnSpPr>
          <p:cNvPr id="18" name="Connector 17"/>
          <p:cNvCxnSpPr/>
          <p:nvPr/>
        </p:nvCxnSpPr>
        <p:spPr>
          <a:xfrm>
            <a:off x="8961120" y="4526280"/>
            <a:ext cx="548640" cy="0"/>
          </a:xfrm>
          <a:prstGeom prst="line">
            <a:avLst/>
          </a:prstGeom>
          <a:ln w="38100">
            <a:solidFill>
              <a:srgbClr val="B03A1A"/>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01200" y="4069080"/>
            <a:ext cx="2011680" cy="914400"/>
          </a:xfrm>
          <a:prstGeom prst="roundRect">
            <a:avLst/>
          </a:prstGeom>
          <a:solidFill>
            <a:srgbClr val="F3DDD5"/>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B03A1A"/>
                </a:solidFill>
                <a:latin typeface="Calibri"/>
              </a:rPr>
              <a:t>= −0.47</a:t>
            </a:r>
          </a:p>
          <a:p>
            <a:pPr algn="ctr"/>
            <a:r>
              <a:rPr sz="1000" b="0">
                <a:solidFill>
                  <a:srgbClr val="B03A1A"/>
                </a:solidFill>
                <a:latin typeface="Calibri"/>
              </a:rPr>
              <a:t>argues against</a:t>
            </a:r>
          </a:p>
        </p:txBody>
      </p:sp>
      <p:sp>
        <p:nvSpPr>
          <p:cNvPr id="20" name="Rounded Rectangle 19"/>
          <p:cNvSpPr/>
          <p:nvPr/>
        </p:nvSpPr>
        <p:spPr>
          <a:xfrm>
            <a:off x="1371600" y="5669280"/>
            <a:ext cx="9418320" cy="777240"/>
          </a:xfrm>
          <a:prstGeom prst="roundRect">
            <a:avLst/>
          </a:prstGeom>
          <a:solidFill>
            <a:srgbClr val="DBE6F5"/>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A1A2E"/>
                </a:solidFill>
                <a:latin typeface="Calibri"/>
              </a:rPr>
              <a:t>Repeat for all 6 families  -&gt;  highest score wins. Its S+ / S- clauses are the analyst's evidence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
            <a:ext cx="11155680" cy="841248"/>
          </a:xfrm>
          <a:prstGeom prst="rect">
            <a:avLst/>
          </a:prstGeom>
          <a:noFill/>
        </p:spPr>
        <p:txBody>
          <a:bodyPr wrap="square">
            <a:spAutoFit/>
          </a:bodyPr>
          <a:lstStyle/>
          <a:p>
            <a:r>
              <a:rPr sz="1100" b="1">
                <a:solidFill>
                  <a:srgbClr val="CFDDF2"/>
                </a:solidFill>
                <a:latin typeface="Calibri"/>
              </a:rPr>
              <a:t>WHY TRUST IT</a:t>
            </a:r>
          </a:p>
          <a:p>
            <a:r>
              <a:rPr sz="2200" b="1">
                <a:solidFill>
                  <a:srgbClr val="FFFFFF"/>
                </a:solidFill>
                <a:latin typeface="Calibri"/>
              </a:rPr>
              <a:t>Each signature ships with an error bound</a:t>
            </a:r>
          </a:p>
        </p:txBody>
      </p:sp>
      <p:sp>
        <p:nvSpPr>
          <p:cNvPr id="4" name="TextBox 3"/>
          <p:cNvSpPr txBox="1"/>
          <p:nvPr/>
        </p:nvSpPr>
        <p:spPr>
          <a:xfrm>
            <a:off x="640080" y="1280160"/>
            <a:ext cx="10972800" cy="365760"/>
          </a:xfrm>
          <a:prstGeom prst="rect">
            <a:avLst/>
          </a:prstGeom>
          <a:noFill/>
        </p:spPr>
        <p:txBody>
          <a:bodyPr wrap="square">
            <a:spAutoFit/>
          </a:bodyPr>
          <a:lstStyle/>
          <a:p>
            <a:pPr algn="l"/>
            <a:r>
              <a:rPr sz="1400" b="1">
                <a:solidFill>
                  <a:srgbClr val="1A1A2E"/>
                </a:solidFill>
                <a:latin typeface="Calibri"/>
              </a:rPr>
              <a:t>Benign signature - 216 clauses kept:</a:t>
            </a:r>
          </a:p>
        </p:txBody>
      </p:sp>
      <p:sp>
        <p:nvSpPr>
          <p:cNvPr id="5" name="Rectangle 4"/>
          <p:cNvSpPr/>
          <p:nvPr/>
        </p:nvSpPr>
        <p:spPr>
          <a:xfrm>
            <a:off x="640080" y="1920240"/>
            <a:ext cx="2374900" cy="822960"/>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14980" y="1920240"/>
            <a:ext cx="7683499" cy="822960"/>
          </a:xfrm>
          <a:prstGeom prst="rect">
            <a:avLst/>
          </a:prstGeom>
          <a:solidFill>
            <a:srgbClr val="DDDDE2"/>
          </a:solidFill>
          <a:ln w="12700">
            <a:solidFill>
              <a:srgbClr val="6666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834640"/>
            <a:ext cx="2374900" cy="365760"/>
          </a:xfrm>
          <a:prstGeom prst="rect">
            <a:avLst/>
          </a:prstGeom>
          <a:noFill/>
        </p:spPr>
        <p:txBody>
          <a:bodyPr wrap="square">
            <a:spAutoFit/>
          </a:bodyPr>
          <a:lstStyle/>
          <a:p>
            <a:pPr algn="ctr"/>
            <a:r>
              <a:rPr sz="1100" b="1">
                <a:solidFill>
                  <a:srgbClr val="1E7A3C"/>
                </a:solidFill>
                <a:latin typeface="Calibri"/>
              </a:rPr>
              <a:t>≥ 51 trustworthy</a:t>
            </a:r>
          </a:p>
        </p:txBody>
      </p:sp>
      <p:sp>
        <p:nvSpPr>
          <p:cNvPr id="8" name="TextBox 7"/>
          <p:cNvSpPr txBox="1"/>
          <p:nvPr/>
        </p:nvSpPr>
        <p:spPr>
          <a:xfrm>
            <a:off x="3014980" y="2834640"/>
            <a:ext cx="7683499" cy="365760"/>
          </a:xfrm>
          <a:prstGeom prst="rect">
            <a:avLst/>
          </a:prstGeom>
          <a:noFill/>
        </p:spPr>
        <p:txBody>
          <a:bodyPr wrap="square">
            <a:spAutoFit/>
          </a:bodyPr>
          <a:lstStyle/>
          <a:p>
            <a:pPr algn="ctr"/>
            <a:r>
              <a:rPr sz="1100" b="0">
                <a:solidFill>
                  <a:srgbClr val="666672"/>
                </a:solidFill>
                <a:latin typeface="Calibri"/>
              </a:rPr>
              <a:t>≤ 165 may be spurious  (Shah–Samworth E[V] bound)</a:t>
            </a:r>
          </a:p>
        </p:txBody>
      </p:sp>
      <p:sp>
        <p:nvSpPr>
          <p:cNvPr id="9" name="Rounded Rectangle 8"/>
          <p:cNvSpPr/>
          <p:nvPr/>
        </p:nvSpPr>
        <p:spPr>
          <a:xfrm>
            <a:off x="640080" y="3657600"/>
            <a:ext cx="5212080" cy="2194560"/>
          </a:xfrm>
          <a:prstGeom prst="roundRect">
            <a:avLst/>
          </a:prstGeom>
          <a:solidFill>
            <a:srgbClr val="F5F7FA"/>
          </a:solidFill>
          <a:ln w="15875">
            <a:solidFill>
              <a:srgbClr val="1B4F9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B4F9C"/>
                </a:solidFill>
                <a:latin typeface="Calibri"/>
              </a:rPr>
              <a:t>Where the bound comes from</a:t>
            </a:r>
          </a:p>
          <a:p>
            <a:pPr algn="ctr"/>
            <a:r>
              <a:rPr sz="1200" b="0">
                <a:solidFill>
                  <a:srgbClr val="1A1A2E"/>
                </a:solidFill>
                <a:latin typeface="Calibri"/>
              </a:rPr>
              <a:t>straight out of Step 2's re-selection</a:t>
            </a:r>
          </a:p>
          <a:p>
            <a:pPr algn="ctr"/>
            <a:r>
              <a:rPr sz="1200" b="0">
                <a:solidFill>
                  <a:srgbClr val="1A1A2E"/>
                </a:solidFill>
                <a:latin typeface="Calibri"/>
              </a:rPr>
              <a:t>fractions - no extra assumptions.</a:t>
            </a:r>
          </a:p>
          <a:p>
            <a:pPr algn="ctr"/>
            <a:r>
              <a:rPr sz="1200" b="0">
                <a:solidFill>
                  <a:srgbClr val="666672"/>
                </a:solidFill>
                <a:latin typeface="Calibri"/>
              </a:rPr>
              <a:t>We report it loose where it is loose.</a:t>
            </a:r>
          </a:p>
        </p:txBody>
      </p:sp>
      <p:sp>
        <p:nvSpPr>
          <p:cNvPr id="10" name="Rounded Rectangle 9"/>
          <p:cNvSpPr/>
          <p:nvPr/>
        </p:nvSpPr>
        <p:spPr>
          <a:xfrm>
            <a:off x="6035040" y="3657600"/>
            <a:ext cx="5394960" cy="2194560"/>
          </a:xfrm>
          <a:prstGeom prst="roundRect">
            <a:avLst/>
          </a:prstGeom>
          <a:solidFill>
            <a:srgbClr val="D8ECDD"/>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1E7A3C"/>
                </a:solidFill>
                <a:latin typeface="Calibri"/>
              </a:rPr>
              <a:t>Identifiability</a:t>
            </a:r>
          </a:p>
          <a:p>
            <a:pPr algn="ctr"/>
            <a:r>
              <a:rPr sz="1200" b="0">
                <a:solidFill>
                  <a:srgbClr val="1A1A2E"/>
                </a:solidFill>
                <a:latin typeface="Calibri"/>
              </a:rPr>
              <a:t>the 6 signatures are 5-disjunct:</a:t>
            </a:r>
          </a:p>
          <a:p>
            <a:pPr algn="ctr"/>
            <a:r>
              <a:rPr sz="1200" b="0">
                <a:solidFill>
                  <a:srgbClr val="1A1A2E"/>
                </a:solidFill>
                <a:latin typeface="Calibri"/>
              </a:rPr>
              <a:t>any mix of up to 5 families is still</a:t>
            </a:r>
          </a:p>
          <a:p>
            <a:pPr algn="ctr"/>
            <a:r>
              <a:rPr sz="1200" b="0">
                <a:solidFill>
                  <a:srgbClr val="1A1A2E"/>
                </a:solidFill>
                <a:latin typeface="Calibri"/>
              </a:rPr>
              <a:t>exactly decodable from the union.</a:t>
            </a:r>
          </a:p>
        </p:txBody>
      </p:sp>
      <p:sp>
        <p:nvSpPr>
          <p:cNvPr id="11" name="TextBox 10"/>
          <p:cNvSpPr txBox="1"/>
          <p:nvPr/>
        </p:nvSpPr>
        <p:spPr>
          <a:xfrm>
            <a:off x="640080" y="6035040"/>
            <a:ext cx="10972800" cy="457200"/>
          </a:xfrm>
          <a:prstGeom prst="rect">
            <a:avLst/>
          </a:prstGeom>
          <a:noFill/>
        </p:spPr>
        <p:txBody>
          <a:bodyPr wrap="square">
            <a:spAutoFit/>
          </a:bodyPr>
          <a:lstStyle/>
          <a:p>
            <a:pPr algn="l"/>
            <a:r>
              <a:rPr sz="1200" b="0">
                <a:solidFill>
                  <a:srgbClr val="666672"/>
                </a:solidFill>
                <a:latin typeface="Calibri"/>
              </a:rPr>
              <a:t>The attribution score uses only the tighter ~40-clause S+ part of each signature.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
            <a:ext cx="11155680" cy="841248"/>
          </a:xfrm>
          <a:prstGeom prst="rect">
            <a:avLst/>
          </a:prstGeom>
          <a:noFill/>
        </p:spPr>
        <p:txBody>
          <a:bodyPr wrap="square">
            <a:spAutoFit/>
          </a:bodyPr>
          <a:lstStyle/>
          <a:p>
            <a:r>
              <a:rPr sz="1100" b="1">
                <a:solidFill>
                  <a:srgbClr val="CFDDF2"/>
                </a:solidFill>
                <a:latin typeface="Calibri"/>
              </a:rPr>
              <a:t>BOTTOM LINE</a:t>
            </a:r>
          </a:p>
          <a:p>
            <a:r>
              <a:rPr sz="2200" b="1">
                <a:solidFill>
                  <a:srgbClr val="FFFFFF"/>
                </a:solidFill>
                <a:latin typeface="Calibri"/>
              </a:rPr>
              <a:t>Delivers - and where it does not</a:t>
            </a:r>
          </a:p>
        </p:txBody>
      </p:sp>
      <p:sp>
        <p:nvSpPr>
          <p:cNvPr id="4" name="TextBox 3"/>
          <p:cNvSpPr txBox="1"/>
          <p:nvPr/>
        </p:nvSpPr>
        <p:spPr>
          <a:xfrm>
            <a:off x="822960" y="1188720"/>
            <a:ext cx="4572000" cy="365760"/>
          </a:xfrm>
          <a:prstGeom prst="rect">
            <a:avLst/>
          </a:prstGeom>
          <a:noFill/>
        </p:spPr>
        <p:txBody>
          <a:bodyPr wrap="square">
            <a:spAutoFit/>
          </a:bodyPr>
          <a:lstStyle/>
          <a:p>
            <a:pPr algn="l"/>
            <a:r>
              <a:rPr sz="1200" b="1">
                <a:solidFill>
                  <a:srgbClr val="666672"/>
                </a:solidFill>
                <a:latin typeface="Calibri"/>
              </a:rPr>
              <a:t>family attribution  (macro-F1)</a:t>
            </a:r>
          </a:p>
        </p:txBody>
      </p:sp>
      <p:cxnSp>
        <p:nvCxnSpPr>
          <p:cNvPr id="5" name="Connector 4"/>
          <p:cNvCxnSpPr/>
          <p:nvPr/>
        </p:nvCxnSpPr>
        <p:spPr>
          <a:xfrm>
            <a:off x="1005840" y="4023360"/>
            <a:ext cx="2743199" cy="0"/>
          </a:xfrm>
          <a:prstGeom prst="line">
            <a:avLst/>
          </a:prstGeom>
          <a:ln w="12700">
            <a:solidFill>
              <a:srgbClr val="666672"/>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280160" y="2378171"/>
            <a:ext cx="822959" cy="1645188"/>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085563"/>
            <a:ext cx="1188719" cy="274320"/>
          </a:xfrm>
          <a:prstGeom prst="rect">
            <a:avLst/>
          </a:prstGeom>
          <a:noFill/>
        </p:spPr>
        <p:txBody>
          <a:bodyPr wrap="square">
            <a:spAutoFit/>
          </a:bodyPr>
          <a:lstStyle/>
          <a:p>
            <a:pPr algn="ctr"/>
            <a:r>
              <a:rPr sz="1000" b="1">
                <a:solidFill>
                  <a:srgbClr val="1A1A2E"/>
                </a:solidFill>
                <a:latin typeface="Calibri"/>
              </a:rPr>
              <a:t>0.69</a:t>
            </a:r>
          </a:p>
        </p:txBody>
      </p:sp>
      <p:sp>
        <p:nvSpPr>
          <p:cNvPr id="8" name="TextBox 7"/>
          <p:cNvSpPr txBox="1"/>
          <p:nvPr/>
        </p:nvSpPr>
        <p:spPr>
          <a:xfrm>
            <a:off x="1005840" y="4078224"/>
            <a:ext cx="1371600" cy="365760"/>
          </a:xfrm>
          <a:prstGeom prst="rect">
            <a:avLst/>
          </a:prstGeom>
          <a:noFill/>
        </p:spPr>
        <p:txBody>
          <a:bodyPr wrap="square">
            <a:spAutoFit/>
          </a:bodyPr>
          <a:lstStyle/>
          <a:p>
            <a:pPr algn="ctr"/>
            <a:r>
              <a:rPr sz="1000" b="0">
                <a:solidFill>
                  <a:srgbClr val="666672"/>
                </a:solidFill>
                <a:latin typeface="Calibri"/>
              </a:rPr>
              <a:t>base TM</a:t>
            </a:r>
          </a:p>
        </p:txBody>
      </p:sp>
      <p:sp>
        <p:nvSpPr>
          <p:cNvPr id="9" name="Rectangle 8"/>
          <p:cNvSpPr/>
          <p:nvPr/>
        </p:nvSpPr>
        <p:spPr>
          <a:xfrm>
            <a:off x="2651760" y="2204618"/>
            <a:ext cx="822959" cy="1818741"/>
          </a:xfrm>
          <a:prstGeom prst="rect">
            <a:avLst/>
          </a:prstGeom>
          <a:solidFill>
            <a:srgbClr val="B03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1912010"/>
            <a:ext cx="1188719" cy="274320"/>
          </a:xfrm>
          <a:prstGeom prst="rect">
            <a:avLst/>
          </a:prstGeom>
          <a:noFill/>
        </p:spPr>
        <p:txBody>
          <a:bodyPr wrap="square">
            <a:spAutoFit/>
          </a:bodyPr>
          <a:lstStyle/>
          <a:p>
            <a:pPr algn="ctr"/>
            <a:r>
              <a:rPr sz="1000" b="1">
                <a:solidFill>
                  <a:srgbClr val="1A1A2E"/>
                </a:solidFill>
                <a:latin typeface="Calibri"/>
              </a:rPr>
              <a:t>0.77</a:t>
            </a:r>
          </a:p>
        </p:txBody>
      </p:sp>
      <p:sp>
        <p:nvSpPr>
          <p:cNvPr id="11" name="TextBox 10"/>
          <p:cNvSpPr txBox="1"/>
          <p:nvPr/>
        </p:nvSpPr>
        <p:spPr>
          <a:xfrm>
            <a:off x="2377440" y="4078224"/>
            <a:ext cx="1371600" cy="365760"/>
          </a:xfrm>
          <a:prstGeom prst="rect">
            <a:avLst/>
          </a:prstGeom>
          <a:noFill/>
        </p:spPr>
        <p:txBody>
          <a:bodyPr wrap="square">
            <a:spAutoFit/>
          </a:bodyPr>
          <a:lstStyle/>
          <a:p>
            <a:pPr algn="ctr"/>
            <a:r>
              <a:rPr sz="1000" b="0">
                <a:solidFill>
                  <a:srgbClr val="666672"/>
                </a:solidFill>
                <a:latin typeface="Calibri"/>
              </a:rPr>
              <a:t>CAS</a:t>
            </a:r>
          </a:p>
        </p:txBody>
      </p:sp>
      <p:sp>
        <p:nvSpPr>
          <p:cNvPr id="12" name="TextBox 11"/>
          <p:cNvSpPr txBox="1"/>
          <p:nvPr/>
        </p:nvSpPr>
        <p:spPr>
          <a:xfrm>
            <a:off x="6400800" y="1188720"/>
            <a:ext cx="4572000" cy="365760"/>
          </a:xfrm>
          <a:prstGeom prst="rect">
            <a:avLst/>
          </a:prstGeom>
          <a:noFill/>
        </p:spPr>
        <p:txBody>
          <a:bodyPr wrap="square">
            <a:spAutoFit/>
          </a:bodyPr>
          <a:lstStyle/>
          <a:p>
            <a:pPr algn="l"/>
            <a:r>
              <a:rPr sz="1200" b="1">
                <a:solidFill>
                  <a:srgbClr val="666672"/>
                </a:solidFill>
                <a:latin typeface="Calibri"/>
              </a:rPr>
              <a:t>binary attack detection  (AUROC)</a:t>
            </a:r>
          </a:p>
        </p:txBody>
      </p:sp>
      <p:cxnSp>
        <p:nvCxnSpPr>
          <p:cNvPr id="13" name="Connector 12"/>
          <p:cNvCxnSpPr/>
          <p:nvPr/>
        </p:nvCxnSpPr>
        <p:spPr>
          <a:xfrm>
            <a:off x="6583680" y="4023360"/>
            <a:ext cx="2743200" cy="0"/>
          </a:xfrm>
          <a:prstGeom prst="line">
            <a:avLst/>
          </a:prstGeom>
          <a:ln w="12700">
            <a:solidFill>
              <a:srgbClr val="666672"/>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858000" y="2076236"/>
            <a:ext cx="822959" cy="1947123"/>
          </a:xfrm>
          <a:prstGeom prst="rect">
            <a:avLst/>
          </a:prstGeom>
          <a:solidFill>
            <a:srgbClr val="1B4F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1783628"/>
            <a:ext cx="1188719" cy="274320"/>
          </a:xfrm>
          <a:prstGeom prst="rect">
            <a:avLst/>
          </a:prstGeom>
          <a:noFill/>
        </p:spPr>
        <p:txBody>
          <a:bodyPr wrap="square">
            <a:spAutoFit/>
          </a:bodyPr>
          <a:lstStyle/>
          <a:p>
            <a:pPr algn="ctr"/>
            <a:r>
              <a:rPr sz="1000" b="1">
                <a:solidFill>
                  <a:srgbClr val="1A1A2E"/>
                </a:solidFill>
                <a:latin typeface="Calibri"/>
              </a:rPr>
              <a:t>0.82</a:t>
            </a:r>
          </a:p>
        </p:txBody>
      </p:sp>
      <p:sp>
        <p:nvSpPr>
          <p:cNvPr id="16" name="TextBox 15"/>
          <p:cNvSpPr txBox="1"/>
          <p:nvPr/>
        </p:nvSpPr>
        <p:spPr>
          <a:xfrm>
            <a:off x="6583680" y="4078224"/>
            <a:ext cx="1371600" cy="365760"/>
          </a:xfrm>
          <a:prstGeom prst="rect">
            <a:avLst/>
          </a:prstGeom>
          <a:noFill/>
        </p:spPr>
        <p:txBody>
          <a:bodyPr wrap="square">
            <a:spAutoFit/>
          </a:bodyPr>
          <a:lstStyle/>
          <a:p>
            <a:pPr algn="ctr"/>
            <a:r>
              <a:rPr sz="1000" b="0">
                <a:solidFill>
                  <a:srgbClr val="666672"/>
                </a:solidFill>
                <a:latin typeface="Calibri"/>
              </a:rPr>
              <a:t>base TM</a:t>
            </a:r>
          </a:p>
        </p:txBody>
      </p:sp>
      <p:sp>
        <p:nvSpPr>
          <p:cNvPr id="17" name="Rectangle 16"/>
          <p:cNvSpPr/>
          <p:nvPr/>
        </p:nvSpPr>
        <p:spPr>
          <a:xfrm>
            <a:off x="8229600" y="1788566"/>
            <a:ext cx="822959" cy="2234793"/>
          </a:xfrm>
          <a:prstGeom prst="rect">
            <a:avLst/>
          </a:prstGeom>
          <a:solidFill>
            <a:srgbClr val="B03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1495958"/>
            <a:ext cx="1188719" cy="274320"/>
          </a:xfrm>
          <a:prstGeom prst="rect">
            <a:avLst/>
          </a:prstGeom>
          <a:noFill/>
        </p:spPr>
        <p:txBody>
          <a:bodyPr wrap="square">
            <a:spAutoFit/>
          </a:bodyPr>
          <a:lstStyle/>
          <a:p>
            <a:pPr algn="ctr"/>
            <a:r>
              <a:rPr sz="1000" b="1">
                <a:solidFill>
                  <a:srgbClr val="1A1A2E"/>
                </a:solidFill>
                <a:latin typeface="Calibri"/>
              </a:rPr>
              <a:t>0.94</a:t>
            </a:r>
          </a:p>
        </p:txBody>
      </p:sp>
      <p:sp>
        <p:nvSpPr>
          <p:cNvPr id="19" name="TextBox 18"/>
          <p:cNvSpPr txBox="1"/>
          <p:nvPr/>
        </p:nvSpPr>
        <p:spPr>
          <a:xfrm>
            <a:off x="7955279" y="4078224"/>
            <a:ext cx="1371600" cy="365760"/>
          </a:xfrm>
          <a:prstGeom prst="rect">
            <a:avLst/>
          </a:prstGeom>
          <a:noFill/>
        </p:spPr>
        <p:txBody>
          <a:bodyPr wrap="square">
            <a:spAutoFit/>
          </a:bodyPr>
          <a:lstStyle/>
          <a:p>
            <a:pPr algn="ctr"/>
            <a:r>
              <a:rPr sz="1000" b="0">
                <a:solidFill>
                  <a:srgbClr val="666672"/>
                </a:solidFill>
                <a:latin typeface="Calibri"/>
              </a:rPr>
              <a:t>CAS</a:t>
            </a:r>
          </a:p>
        </p:txBody>
      </p:sp>
      <p:sp>
        <p:nvSpPr>
          <p:cNvPr id="20" name="TextBox 19"/>
          <p:cNvSpPr txBox="1"/>
          <p:nvPr/>
        </p:nvSpPr>
        <p:spPr>
          <a:xfrm>
            <a:off x="640080" y="4297680"/>
            <a:ext cx="11155680" cy="365760"/>
          </a:xfrm>
          <a:prstGeom prst="rect">
            <a:avLst/>
          </a:prstGeom>
          <a:noFill/>
        </p:spPr>
        <p:txBody>
          <a:bodyPr wrap="square">
            <a:spAutoFit/>
          </a:bodyPr>
          <a:lstStyle/>
          <a:p>
            <a:pPr algn="l"/>
            <a:r>
              <a:rPr sz="1200" b="0">
                <a:solidFill>
                  <a:srgbClr val="1E7A3C"/>
                </a:solidFill>
                <a:latin typeface="Calibri"/>
              </a:rPr>
              <a:t>also:  ~39–47 clauses per family (of 2,400)   ·   seed-reproducible   ·   each list carries its E[V] bound</a:t>
            </a:r>
          </a:p>
        </p:txBody>
      </p:sp>
      <p:sp>
        <p:nvSpPr>
          <p:cNvPr id="21" name="Rounded Rectangle 20"/>
          <p:cNvSpPr/>
          <p:nvPr/>
        </p:nvSpPr>
        <p:spPr>
          <a:xfrm>
            <a:off x="640080" y="4800600"/>
            <a:ext cx="10972800" cy="1737360"/>
          </a:xfrm>
          <a:prstGeom prst="roundRect">
            <a:avLst/>
          </a:prstGeom>
          <a:solidFill>
            <a:srgbClr val="F3DDD5"/>
          </a:solidFill>
          <a:ln w="15875">
            <a:solidFill>
              <a:srgbClr val="B03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B03A1A"/>
                </a:solidFill>
                <a:latin typeface="Calibri"/>
              </a:rPr>
              <a:t>Honest limits</a:t>
            </a:r>
          </a:p>
          <a:p>
            <a:pPr algn="ctr"/>
            <a:r>
              <a:rPr sz="1200" b="0">
                <a:solidFill>
                  <a:srgbClr val="1A1A2E"/>
                </a:solidFill>
                <a:latin typeface="Calibri"/>
              </a:rPr>
              <a:t>• weak at flagging a genuinely NEW family  (false-alarm control holds, detection power is low)</a:t>
            </a:r>
          </a:p>
          <a:p>
            <a:pPr algn="ctr"/>
            <a:r>
              <a:rPr sz="1200" b="0">
                <a:solidFill>
                  <a:srgbClr val="1A1A2E"/>
                </a:solidFill>
                <a:latin typeface="Calibri"/>
              </a:rPr>
              <a:t>• clause identities don't line up across retraining - same-model stability only, for now</a:t>
            </a:r>
          </a:p>
          <a:p>
            <a:pPr algn="ctr"/>
            <a:r>
              <a:rPr sz="1200" b="0">
                <a:solidFill>
                  <a:srgbClr val="1A1A2E"/>
                </a:solidFill>
                <a:latin typeface="Calibri"/>
              </a:rPr>
              <a:t>• gains need a base detector with slack; on a near-perfect base, CAS is lossy compression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